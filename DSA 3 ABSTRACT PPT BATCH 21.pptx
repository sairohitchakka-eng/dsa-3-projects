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71" r:id="rId9"/>
    <p:sldId id="272" r:id="rId10"/>
    <p:sldId id="281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73" r:id="rId26"/>
    <p:sldId id="274" r:id="rId27"/>
    <p:sldId id="275" r:id="rId28"/>
    <p:sldId id="277" r:id="rId29"/>
    <p:sldId id="278" r:id="rId30"/>
    <p:sldId id="279" r:id="rId31"/>
    <p:sldId id="280" r:id="rId32"/>
    <p:sldId id="265" r:id="rId33"/>
    <p:sldId id="266" r:id="rId34"/>
    <p:sldId id="270" r:id="rId35"/>
    <p:sldId id="267" r:id="rId3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038" autoAdjust="0"/>
    <p:restoredTop sz="94660"/>
  </p:normalViewPr>
  <p:slideViewPr>
    <p:cSldViewPr>
      <p:cViewPr>
        <p:scale>
          <a:sx n="50" d="100"/>
          <a:sy n="50" d="100"/>
        </p:scale>
        <p:origin x="2136" y="155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rgbClr val="C0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rgbClr val="C0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AE4D5">
              <a:alpha val="1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5719"/>
            <a:ext cx="2103120" cy="899159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0" y="0"/>
            <a:ext cx="12192000" cy="45720"/>
          </a:xfrm>
          <a:custGeom>
            <a:avLst/>
            <a:gdLst/>
            <a:ahLst/>
            <a:cxnLst/>
            <a:rect l="l" t="t" r="r" b="b"/>
            <a:pathLst>
              <a:path w="12192000" h="45720">
                <a:moveTo>
                  <a:pt x="12192000" y="0"/>
                </a:moveTo>
                <a:lnTo>
                  <a:pt x="0" y="0"/>
                </a:lnTo>
                <a:lnTo>
                  <a:pt x="0" y="45720"/>
                </a:lnTo>
                <a:lnTo>
                  <a:pt x="12192000" y="45720"/>
                </a:lnTo>
                <a:lnTo>
                  <a:pt x="12192000" y="0"/>
                </a:lnTo>
                <a:close/>
              </a:path>
            </a:pathLst>
          </a:custGeom>
          <a:solidFill>
            <a:srgbClr val="B92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3002280" cy="300227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812279"/>
            <a:ext cx="12192000" cy="45720"/>
          </a:xfrm>
          <a:custGeom>
            <a:avLst/>
            <a:gdLst/>
            <a:ahLst/>
            <a:cxnLst/>
            <a:rect l="l" t="t" r="r" b="b"/>
            <a:pathLst>
              <a:path w="12192000" h="45720">
                <a:moveTo>
                  <a:pt x="12192000" y="0"/>
                </a:moveTo>
                <a:lnTo>
                  <a:pt x="0" y="0"/>
                </a:lnTo>
                <a:lnTo>
                  <a:pt x="0" y="45719"/>
                </a:lnTo>
                <a:lnTo>
                  <a:pt x="12192000" y="4571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92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736848" y="2618231"/>
            <a:ext cx="4947285" cy="1359535"/>
          </a:xfrm>
          <a:custGeom>
            <a:avLst/>
            <a:gdLst/>
            <a:ahLst/>
            <a:cxnLst/>
            <a:rect l="l" t="t" r="r" b="b"/>
            <a:pathLst>
              <a:path w="4947284" h="1359535">
                <a:moveTo>
                  <a:pt x="4720335" y="0"/>
                </a:moveTo>
                <a:lnTo>
                  <a:pt x="226567" y="0"/>
                </a:lnTo>
                <a:lnTo>
                  <a:pt x="180916" y="4604"/>
                </a:lnTo>
                <a:lnTo>
                  <a:pt x="138392" y="17809"/>
                </a:lnTo>
                <a:lnTo>
                  <a:pt x="99907" y="38703"/>
                </a:lnTo>
                <a:lnTo>
                  <a:pt x="66373" y="66373"/>
                </a:lnTo>
                <a:lnTo>
                  <a:pt x="38703" y="99907"/>
                </a:lnTo>
                <a:lnTo>
                  <a:pt x="17809" y="138392"/>
                </a:lnTo>
                <a:lnTo>
                  <a:pt x="4604" y="180916"/>
                </a:lnTo>
                <a:lnTo>
                  <a:pt x="0" y="226567"/>
                </a:lnTo>
                <a:lnTo>
                  <a:pt x="0" y="1132839"/>
                </a:lnTo>
                <a:lnTo>
                  <a:pt x="4604" y="1178491"/>
                </a:lnTo>
                <a:lnTo>
                  <a:pt x="17809" y="1221015"/>
                </a:lnTo>
                <a:lnTo>
                  <a:pt x="38703" y="1259500"/>
                </a:lnTo>
                <a:lnTo>
                  <a:pt x="66373" y="1293034"/>
                </a:lnTo>
                <a:lnTo>
                  <a:pt x="99907" y="1320704"/>
                </a:lnTo>
                <a:lnTo>
                  <a:pt x="138392" y="1341598"/>
                </a:lnTo>
                <a:lnTo>
                  <a:pt x="180916" y="1354803"/>
                </a:lnTo>
                <a:lnTo>
                  <a:pt x="226567" y="1359407"/>
                </a:lnTo>
                <a:lnTo>
                  <a:pt x="4720335" y="1359407"/>
                </a:lnTo>
                <a:lnTo>
                  <a:pt x="4765987" y="1354803"/>
                </a:lnTo>
                <a:lnTo>
                  <a:pt x="4808511" y="1341598"/>
                </a:lnTo>
                <a:lnTo>
                  <a:pt x="4846996" y="1320704"/>
                </a:lnTo>
                <a:lnTo>
                  <a:pt x="4880530" y="1293034"/>
                </a:lnTo>
                <a:lnTo>
                  <a:pt x="4908200" y="1259500"/>
                </a:lnTo>
                <a:lnTo>
                  <a:pt x="4929094" y="1221015"/>
                </a:lnTo>
                <a:lnTo>
                  <a:pt x="4942299" y="1178491"/>
                </a:lnTo>
                <a:lnTo>
                  <a:pt x="4946904" y="1132839"/>
                </a:lnTo>
                <a:lnTo>
                  <a:pt x="4946904" y="226567"/>
                </a:lnTo>
                <a:lnTo>
                  <a:pt x="4942299" y="180916"/>
                </a:lnTo>
                <a:lnTo>
                  <a:pt x="4929094" y="138392"/>
                </a:lnTo>
                <a:lnTo>
                  <a:pt x="4908200" y="99907"/>
                </a:lnTo>
                <a:lnTo>
                  <a:pt x="4880530" y="66373"/>
                </a:lnTo>
                <a:lnTo>
                  <a:pt x="4846996" y="38703"/>
                </a:lnTo>
                <a:lnTo>
                  <a:pt x="4808511" y="17809"/>
                </a:lnTo>
                <a:lnTo>
                  <a:pt x="4765987" y="4604"/>
                </a:lnTo>
                <a:lnTo>
                  <a:pt x="4720335" y="0"/>
                </a:lnTo>
                <a:close/>
              </a:path>
            </a:pathLst>
          </a:custGeom>
          <a:solidFill>
            <a:srgbClr val="C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3736848" y="2618231"/>
            <a:ext cx="4947285" cy="1359535"/>
          </a:xfrm>
          <a:custGeom>
            <a:avLst/>
            <a:gdLst/>
            <a:ahLst/>
            <a:cxnLst/>
            <a:rect l="l" t="t" r="r" b="b"/>
            <a:pathLst>
              <a:path w="4947284" h="1359535">
                <a:moveTo>
                  <a:pt x="0" y="226567"/>
                </a:moveTo>
                <a:lnTo>
                  <a:pt x="4604" y="180916"/>
                </a:lnTo>
                <a:lnTo>
                  <a:pt x="17809" y="138392"/>
                </a:lnTo>
                <a:lnTo>
                  <a:pt x="38703" y="99907"/>
                </a:lnTo>
                <a:lnTo>
                  <a:pt x="66373" y="66373"/>
                </a:lnTo>
                <a:lnTo>
                  <a:pt x="99907" y="38703"/>
                </a:lnTo>
                <a:lnTo>
                  <a:pt x="138392" y="17809"/>
                </a:lnTo>
                <a:lnTo>
                  <a:pt x="180916" y="4604"/>
                </a:lnTo>
                <a:lnTo>
                  <a:pt x="226567" y="0"/>
                </a:lnTo>
                <a:lnTo>
                  <a:pt x="4720335" y="0"/>
                </a:lnTo>
                <a:lnTo>
                  <a:pt x="4765987" y="4604"/>
                </a:lnTo>
                <a:lnTo>
                  <a:pt x="4808511" y="17809"/>
                </a:lnTo>
                <a:lnTo>
                  <a:pt x="4846996" y="38703"/>
                </a:lnTo>
                <a:lnTo>
                  <a:pt x="4880530" y="66373"/>
                </a:lnTo>
                <a:lnTo>
                  <a:pt x="4908200" y="99907"/>
                </a:lnTo>
                <a:lnTo>
                  <a:pt x="4929094" y="138392"/>
                </a:lnTo>
                <a:lnTo>
                  <a:pt x="4942299" y="180916"/>
                </a:lnTo>
                <a:lnTo>
                  <a:pt x="4946904" y="226567"/>
                </a:lnTo>
                <a:lnTo>
                  <a:pt x="4946904" y="1132839"/>
                </a:lnTo>
                <a:lnTo>
                  <a:pt x="4942299" y="1178491"/>
                </a:lnTo>
                <a:lnTo>
                  <a:pt x="4929094" y="1221015"/>
                </a:lnTo>
                <a:lnTo>
                  <a:pt x="4908200" y="1259500"/>
                </a:lnTo>
                <a:lnTo>
                  <a:pt x="4880530" y="1293034"/>
                </a:lnTo>
                <a:lnTo>
                  <a:pt x="4846996" y="1320704"/>
                </a:lnTo>
                <a:lnTo>
                  <a:pt x="4808511" y="1341598"/>
                </a:lnTo>
                <a:lnTo>
                  <a:pt x="4765987" y="1354803"/>
                </a:lnTo>
                <a:lnTo>
                  <a:pt x="4720335" y="1359407"/>
                </a:lnTo>
                <a:lnTo>
                  <a:pt x="226567" y="1359407"/>
                </a:lnTo>
                <a:lnTo>
                  <a:pt x="180916" y="1354803"/>
                </a:lnTo>
                <a:lnTo>
                  <a:pt x="138392" y="1341598"/>
                </a:lnTo>
                <a:lnTo>
                  <a:pt x="99907" y="1320704"/>
                </a:lnTo>
                <a:lnTo>
                  <a:pt x="66373" y="1293034"/>
                </a:lnTo>
                <a:lnTo>
                  <a:pt x="38703" y="1259500"/>
                </a:lnTo>
                <a:lnTo>
                  <a:pt x="17809" y="1221015"/>
                </a:lnTo>
                <a:lnTo>
                  <a:pt x="4604" y="1178491"/>
                </a:lnTo>
                <a:lnTo>
                  <a:pt x="0" y="1132839"/>
                </a:lnTo>
                <a:lnTo>
                  <a:pt x="0" y="226567"/>
                </a:lnTo>
                <a:close/>
              </a:path>
            </a:pathLst>
          </a:custGeom>
          <a:ln w="12192">
            <a:solidFill>
              <a:srgbClr val="172C5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AE4D5">
              <a:alpha val="1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45719"/>
            <a:ext cx="2103120" cy="899159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0" y="0"/>
            <a:ext cx="12192000" cy="45720"/>
          </a:xfrm>
          <a:custGeom>
            <a:avLst/>
            <a:gdLst/>
            <a:ahLst/>
            <a:cxnLst/>
            <a:rect l="l" t="t" r="r" b="b"/>
            <a:pathLst>
              <a:path w="12192000" h="45720">
                <a:moveTo>
                  <a:pt x="12192000" y="0"/>
                </a:moveTo>
                <a:lnTo>
                  <a:pt x="0" y="0"/>
                </a:lnTo>
                <a:lnTo>
                  <a:pt x="0" y="45720"/>
                </a:lnTo>
                <a:lnTo>
                  <a:pt x="12192000" y="45720"/>
                </a:lnTo>
                <a:lnTo>
                  <a:pt x="12192000" y="0"/>
                </a:lnTo>
                <a:close/>
              </a:path>
            </a:pathLst>
          </a:custGeom>
          <a:solidFill>
            <a:srgbClr val="B92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3002280" cy="300227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0" y="6812279"/>
            <a:ext cx="12192000" cy="45720"/>
          </a:xfrm>
          <a:custGeom>
            <a:avLst/>
            <a:gdLst/>
            <a:ahLst/>
            <a:cxnLst/>
            <a:rect l="l" t="t" r="r" b="b"/>
            <a:pathLst>
              <a:path w="12192000" h="45720">
                <a:moveTo>
                  <a:pt x="12192000" y="0"/>
                </a:moveTo>
                <a:lnTo>
                  <a:pt x="0" y="0"/>
                </a:lnTo>
                <a:lnTo>
                  <a:pt x="0" y="45719"/>
                </a:lnTo>
                <a:lnTo>
                  <a:pt x="12192000" y="4571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92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643881" y="202514"/>
            <a:ext cx="2904236" cy="5124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82748" y="2067509"/>
            <a:ext cx="8503920" cy="4641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rgbClr val="C0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853308" y="393649"/>
            <a:ext cx="7165340" cy="1185545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2268855" marR="5080" indent="-2256155">
              <a:lnSpc>
                <a:spcPts val="4320"/>
              </a:lnSpc>
              <a:spcBef>
                <a:spcPts val="655"/>
              </a:spcBef>
            </a:pPr>
            <a:r>
              <a:rPr sz="4000" dirty="0">
                <a:solidFill>
                  <a:srgbClr val="C00000"/>
                </a:solidFill>
              </a:rPr>
              <a:t>Data</a:t>
            </a:r>
            <a:r>
              <a:rPr sz="4000" spc="-60" dirty="0">
                <a:solidFill>
                  <a:srgbClr val="C00000"/>
                </a:solidFill>
              </a:rPr>
              <a:t> </a:t>
            </a:r>
            <a:r>
              <a:rPr sz="4000" dirty="0">
                <a:solidFill>
                  <a:srgbClr val="C00000"/>
                </a:solidFill>
              </a:rPr>
              <a:t>Structures</a:t>
            </a:r>
            <a:r>
              <a:rPr sz="4000" spc="-105" dirty="0">
                <a:solidFill>
                  <a:srgbClr val="C00000"/>
                </a:solidFill>
              </a:rPr>
              <a:t> </a:t>
            </a:r>
            <a:r>
              <a:rPr sz="4000" dirty="0">
                <a:solidFill>
                  <a:srgbClr val="C00000"/>
                </a:solidFill>
              </a:rPr>
              <a:t>and</a:t>
            </a:r>
            <a:r>
              <a:rPr sz="4000" spc="-85" dirty="0">
                <a:solidFill>
                  <a:srgbClr val="C00000"/>
                </a:solidFill>
              </a:rPr>
              <a:t> </a:t>
            </a:r>
            <a:r>
              <a:rPr sz="4000" dirty="0">
                <a:solidFill>
                  <a:srgbClr val="C00000"/>
                </a:solidFill>
              </a:rPr>
              <a:t>Algorithms</a:t>
            </a:r>
            <a:r>
              <a:rPr sz="4000" spc="-40" dirty="0">
                <a:solidFill>
                  <a:srgbClr val="C00000"/>
                </a:solidFill>
              </a:rPr>
              <a:t> </a:t>
            </a:r>
            <a:r>
              <a:rPr sz="4000" spc="-10" dirty="0">
                <a:solidFill>
                  <a:srgbClr val="C00000"/>
                </a:solidFill>
              </a:rPr>
              <a:t>-</a:t>
            </a:r>
            <a:r>
              <a:rPr sz="4000" spc="-50" dirty="0">
                <a:solidFill>
                  <a:srgbClr val="C00000"/>
                </a:solidFill>
              </a:rPr>
              <a:t>3 </a:t>
            </a:r>
            <a:r>
              <a:rPr sz="4000" spc="-10" dirty="0">
                <a:solidFill>
                  <a:srgbClr val="C00000"/>
                </a:solidFill>
              </a:rPr>
              <a:t>(25CS2103E)</a:t>
            </a:r>
            <a:endParaRPr sz="40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2700" marR="5080" algn="ctr">
              <a:lnSpc>
                <a:spcPts val="3030"/>
              </a:lnSpc>
              <a:spcBef>
                <a:spcPts val="484"/>
              </a:spcBef>
            </a:pPr>
            <a:r>
              <a:rPr dirty="0"/>
              <a:t>RouteOpt:</a:t>
            </a:r>
            <a:r>
              <a:rPr spc="-100" dirty="0"/>
              <a:t> </a:t>
            </a:r>
            <a:r>
              <a:rPr dirty="0"/>
              <a:t>A</a:t>
            </a:r>
            <a:r>
              <a:rPr spc="-50" dirty="0"/>
              <a:t> </a:t>
            </a:r>
            <a:r>
              <a:rPr spc="-20" dirty="0"/>
              <a:t>Data-</a:t>
            </a:r>
            <a:r>
              <a:rPr dirty="0"/>
              <a:t>Cleaning</a:t>
            </a:r>
            <a:r>
              <a:rPr spc="-125" dirty="0"/>
              <a:t> </a:t>
            </a:r>
            <a:r>
              <a:rPr dirty="0"/>
              <a:t>and</a:t>
            </a:r>
            <a:r>
              <a:rPr spc="-45" dirty="0"/>
              <a:t> </a:t>
            </a:r>
            <a:r>
              <a:rPr dirty="0"/>
              <a:t>Approximation</a:t>
            </a:r>
            <a:r>
              <a:rPr spc="-60" dirty="0"/>
              <a:t> </a:t>
            </a:r>
            <a:r>
              <a:rPr dirty="0"/>
              <a:t>Engine</a:t>
            </a:r>
            <a:r>
              <a:rPr spc="-95" dirty="0"/>
              <a:t> </a:t>
            </a:r>
            <a:r>
              <a:rPr spc="-25" dirty="0"/>
              <a:t>for </a:t>
            </a:r>
            <a:r>
              <a:rPr dirty="0"/>
              <a:t>Capacitated</a:t>
            </a:r>
            <a:r>
              <a:rPr spc="-55" dirty="0"/>
              <a:t> </a:t>
            </a:r>
            <a:r>
              <a:rPr spc="-10" dirty="0"/>
              <a:t>Multi-</a:t>
            </a:r>
            <a:r>
              <a:rPr spc="-20" dirty="0"/>
              <a:t>Vehicle</a:t>
            </a:r>
            <a:r>
              <a:rPr spc="-95" dirty="0"/>
              <a:t> </a:t>
            </a:r>
            <a:r>
              <a:rPr dirty="0"/>
              <a:t>Route</a:t>
            </a:r>
            <a:r>
              <a:rPr spc="-80" dirty="0"/>
              <a:t> </a:t>
            </a:r>
            <a:r>
              <a:rPr spc="-10" dirty="0"/>
              <a:t>Optimization</a:t>
            </a:r>
            <a:r>
              <a:rPr spc="-100" dirty="0"/>
              <a:t> </a:t>
            </a:r>
            <a:r>
              <a:rPr dirty="0"/>
              <a:t>with</a:t>
            </a:r>
            <a:r>
              <a:rPr spc="-25" dirty="0"/>
              <a:t> </a:t>
            </a:r>
            <a:r>
              <a:rPr spc="-20" dirty="0"/>
              <a:t>Time </a:t>
            </a:r>
            <a:r>
              <a:rPr spc="-10" dirty="0"/>
              <a:t>Windows</a:t>
            </a:r>
          </a:p>
          <a:p>
            <a:pPr marL="224790" algn="ctr">
              <a:lnSpc>
                <a:spcPct val="100000"/>
              </a:lnSpc>
              <a:spcBef>
                <a:spcPts val="1750"/>
              </a:spcBef>
            </a:pPr>
            <a:r>
              <a:rPr sz="2400" b="0" spc="-45" dirty="0">
                <a:solidFill>
                  <a:srgbClr val="006FC0"/>
                </a:solidFill>
                <a:latin typeface="Calibri"/>
                <a:cs typeface="Calibri"/>
              </a:rPr>
              <a:t>Team</a:t>
            </a:r>
            <a:r>
              <a:rPr sz="2400" b="0" spc="-6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0" spc="-10" dirty="0">
                <a:solidFill>
                  <a:srgbClr val="006FC0"/>
                </a:solidFill>
                <a:latin typeface="Calibri"/>
                <a:cs typeface="Calibri"/>
              </a:rPr>
              <a:t>Members</a:t>
            </a:r>
            <a:endParaRPr sz="2400" dirty="0">
              <a:latin typeface="Calibri"/>
              <a:cs typeface="Calibri"/>
            </a:endParaRPr>
          </a:p>
          <a:p>
            <a:pPr marL="224154" algn="ctr">
              <a:lnSpc>
                <a:spcPct val="100000"/>
              </a:lnSpc>
              <a:spcBef>
                <a:spcPts val="700"/>
              </a:spcBef>
            </a:pPr>
            <a:r>
              <a:rPr sz="2400" b="0" dirty="0">
                <a:solidFill>
                  <a:srgbClr val="006FC0"/>
                </a:solidFill>
                <a:latin typeface="Calibri"/>
                <a:cs typeface="Calibri"/>
              </a:rPr>
              <a:t>Sai</a:t>
            </a:r>
            <a:r>
              <a:rPr sz="2400" b="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0" dirty="0">
                <a:solidFill>
                  <a:srgbClr val="006FC0"/>
                </a:solidFill>
                <a:latin typeface="Calibri"/>
                <a:cs typeface="Calibri"/>
              </a:rPr>
              <a:t>Rohit</a:t>
            </a:r>
            <a:r>
              <a:rPr sz="2400" b="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0" spc="-10" dirty="0">
                <a:solidFill>
                  <a:srgbClr val="006FC0"/>
                </a:solidFill>
                <a:latin typeface="Calibri"/>
                <a:cs typeface="Calibri"/>
              </a:rPr>
              <a:t>(252009091)</a:t>
            </a:r>
            <a:endParaRPr sz="2400" dirty="0">
              <a:latin typeface="Calibri"/>
              <a:cs typeface="Calibri"/>
            </a:endParaRPr>
          </a:p>
          <a:p>
            <a:pPr marL="222885" algn="ctr">
              <a:lnSpc>
                <a:spcPct val="100000"/>
              </a:lnSpc>
              <a:spcBef>
                <a:spcPts val="720"/>
              </a:spcBef>
            </a:pPr>
            <a:r>
              <a:rPr sz="2400" b="0" spc="-10" dirty="0">
                <a:solidFill>
                  <a:srgbClr val="006FC0"/>
                </a:solidFill>
                <a:latin typeface="Calibri"/>
                <a:cs typeface="Calibri"/>
              </a:rPr>
              <a:t>Surendra</a:t>
            </a:r>
            <a:r>
              <a:rPr sz="2400" b="0" spc="-8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0" spc="-10" dirty="0">
                <a:solidFill>
                  <a:srgbClr val="006FC0"/>
                </a:solidFill>
                <a:latin typeface="Calibri"/>
                <a:cs typeface="Calibri"/>
              </a:rPr>
              <a:t>(2520090142)</a:t>
            </a:r>
            <a:endParaRPr sz="2400" dirty="0">
              <a:latin typeface="Calibri"/>
              <a:cs typeface="Calibri"/>
            </a:endParaRPr>
          </a:p>
          <a:p>
            <a:pPr marL="220979" algn="ctr">
              <a:lnSpc>
                <a:spcPct val="100000"/>
              </a:lnSpc>
              <a:spcBef>
                <a:spcPts val="720"/>
              </a:spcBef>
            </a:pPr>
            <a:r>
              <a:rPr sz="2400" b="0" dirty="0">
                <a:solidFill>
                  <a:srgbClr val="006FC0"/>
                </a:solidFill>
                <a:latin typeface="Calibri"/>
                <a:cs typeface="Calibri"/>
              </a:rPr>
              <a:t>Akash</a:t>
            </a:r>
            <a:r>
              <a:rPr sz="2400" b="0" spc="-8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2400" b="0" spc="-10" dirty="0">
                <a:solidFill>
                  <a:srgbClr val="006FC0"/>
                </a:solidFill>
                <a:latin typeface="Calibri"/>
                <a:cs typeface="Calibri"/>
              </a:rPr>
              <a:t>(2520090127)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260"/>
              </a:spcBef>
            </a:pPr>
            <a:endParaRPr sz="2400" dirty="0">
              <a:latin typeface="Calibri"/>
              <a:cs typeface="Calibri"/>
            </a:endParaRPr>
          </a:p>
          <a:p>
            <a:pPr marL="396240" algn="ctr">
              <a:lnSpc>
                <a:spcPct val="100000"/>
              </a:lnSpc>
            </a:pPr>
            <a:r>
              <a:rPr sz="1800" b="0" dirty="0">
                <a:solidFill>
                  <a:srgbClr val="000000"/>
                </a:solidFill>
                <a:latin typeface="Times New Roman"/>
                <a:cs typeface="Times New Roman"/>
              </a:rPr>
              <a:t>Under</a:t>
            </a:r>
            <a:r>
              <a:rPr sz="1800" b="0" spc="-6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1800" b="0" dirty="0">
                <a:solidFill>
                  <a:srgbClr val="000000"/>
                </a:solidFill>
                <a:latin typeface="Times New Roman"/>
                <a:cs typeface="Times New Roman"/>
              </a:rPr>
              <a:t>the</a:t>
            </a:r>
            <a:r>
              <a:rPr sz="1800" b="0" spc="-5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1800" b="0" dirty="0">
                <a:solidFill>
                  <a:srgbClr val="000000"/>
                </a:solidFill>
                <a:latin typeface="Times New Roman"/>
                <a:cs typeface="Times New Roman"/>
              </a:rPr>
              <a:t>Esteemed</a:t>
            </a:r>
            <a:r>
              <a:rPr sz="1800" b="0" spc="-1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1800" b="0" dirty="0">
                <a:solidFill>
                  <a:srgbClr val="000000"/>
                </a:solidFill>
                <a:latin typeface="Times New Roman"/>
                <a:cs typeface="Times New Roman"/>
              </a:rPr>
              <a:t>Guidance</a:t>
            </a:r>
            <a:r>
              <a:rPr sz="1800" b="0" spc="-5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1800" b="0" spc="-25" dirty="0">
                <a:solidFill>
                  <a:srgbClr val="000000"/>
                </a:solidFill>
                <a:latin typeface="Times New Roman"/>
                <a:cs typeface="Times New Roman"/>
              </a:rPr>
              <a:t>of</a:t>
            </a:r>
            <a:endParaRPr sz="1800" dirty="0">
              <a:latin typeface="Times New Roman"/>
              <a:cs typeface="Times New Roman"/>
            </a:endParaRPr>
          </a:p>
          <a:p>
            <a:pPr marL="224790" algn="ctr">
              <a:lnSpc>
                <a:spcPct val="100000"/>
              </a:lnSpc>
              <a:spcBef>
                <a:spcPts val="1945"/>
              </a:spcBef>
            </a:pPr>
            <a:r>
              <a:rPr sz="1800" dirty="0">
                <a:solidFill>
                  <a:srgbClr val="000000"/>
                </a:solidFill>
                <a:latin typeface="Times New Roman"/>
                <a:cs typeface="Times New Roman"/>
              </a:rPr>
              <a:t>Dr.</a:t>
            </a:r>
            <a:r>
              <a:rPr sz="1800" spc="-1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000000"/>
                </a:solidFill>
                <a:latin typeface="Times New Roman"/>
                <a:cs typeface="Times New Roman"/>
              </a:rPr>
              <a:t>Dyuti</a:t>
            </a:r>
            <a:r>
              <a:rPr sz="1800" spc="-10" dirty="0">
                <a:solidFill>
                  <a:srgbClr val="000000"/>
                </a:solidFill>
                <a:latin typeface="Times New Roman"/>
                <a:cs typeface="Times New Roman"/>
              </a:rPr>
              <a:t> Banerjee</a:t>
            </a:r>
            <a:endParaRPr sz="1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3730752" y="216408"/>
            <a:ext cx="4730750" cy="527685"/>
            <a:chOff x="3730752" y="216408"/>
            <a:chExt cx="4730750" cy="527685"/>
          </a:xfrm>
        </p:grpSpPr>
        <p:sp>
          <p:nvSpPr>
            <p:cNvPr id="5" name="object 5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4632452" y="0"/>
                  </a:moveTo>
                  <a:lnTo>
                    <a:pt x="85851" y="0"/>
                  </a:lnTo>
                  <a:lnTo>
                    <a:pt x="52452" y="6752"/>
                  </a:lnTo>
                  <a:lnTo>
                    <a:pt x="25161" y="25161"/>
                  </a:lnTo>
                  <a:lnTo>
                    <a:pt x="6752" y="52452"/>
                  </a:lnTo>
                  <a:lnTo>
                    <a:pt x="0" y="85851"/>
                  </a:lnTo>
                  <a:lnTo>
                    <a:pt x="0" y="429260"/>
                  </a:lnTo>
                  <a:lnTo>
                    <a:pt x="6752" y="462659"/>
                  </a:lnTo>
                  <a:lnTo>
                    <a:pt x="25161" y="489950"/>
                  </a:lnTo>
                  <a:lnTo>
                    <a:pt x="52452" y="508359"/>
                  </a:lnTo>
                  <a:lnTo>
                    <a:pt x="85851" y="515112"/>
                  </a:lnTo>
                  <a:lnTo>
                    <a:pt x="4632452" y="515112"/>
                  </a:lnTo>
                  <a:lnTo>
                    <a:pt x="4665851" y="508359"/>
                  </a:lnTo>
                  <a:lnTo>
                    <a:pt x="4693142" y="489950"/>
                  </a:lnTo>
                  <a:lnTo>
                    <a:pt x="4711551" y="462659"/>
                  </a:lnTo>
                  <a:lnTo>
                    <a:pt x="4718304" y="429260"/>
                  </a:lnTo>
                  <a:lnTo>
                    <a:pt x="4718304" y="85851"/>
                  </a:lnTo>
                  <a:lnTo>
                    <a:pt x="4711551" y="52452"/>
                  </a:lnTo>
                  <a:lnTo>
                    <a:pt x="4693142" y="25161"/>
                  </a:lnTo>
                  <a:lnTo>
                    <a:pt x="4665851" y="6752"/>
                  </a:lnTo>
                  <a:lnTo>
                    <a:pt x="46324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0" y="85851"/>
                  </a:moveTo>
                  <a:lnTo>
                    <a:pt x="6752" y="52452"/>
                  </a:lnTo>
                  <a:lnTo>
                    <a:pt x="25161" y="25161"/>
                  </a:lnTo>
                  <a:lnTo>
                    <a:pt x="52452" y="6752"/>
                  </a:lnTo>
                  <a:lnTo>
                    <a:pt x="85851" y="0"/>
                  </a:lnTo>
                  <a:lnTo>
                    <a:pt x="4632452" y="0"/>
                  </a:lnTo>
                  <a:lnTo>
                    <a:pt x="4665851" y="6752"/>
                  </a:lnTo>
                  <a:lnTo>
                    <a:pt x="4693142" y="25161"/>
                  </a:lnTo>
                  <a:lnTo>
                    <a:pt x="4711551" y="52452"/>
                  </a:lnTo>
                  <a:lnTo>
                    <a:pt x="4718304" y="85851"/>
                  </a:lnTo>
                  <a:lnTo>
                    <a:pt x="4718304" y="429260"/>
                  </a:lnTo>
                  <a:lnTo>
                    <a:pt x="4711551" y="462659"/>
                  </a:lnTo>
                  <a:lnTo>
                    <a:pt x="4693142" y="489950"/>
                  </a:lnTo>
                  <a:lnTo>
                    <a:pt x="4665851" y="508359"/>
                  </a:lnTo>
                  <a:lnTo>
                    <a:pt x="4632452" y="515112"/>
                  </a:lnTo>
                  <a:lnTo>
                    <a:pt x="85851" y="515112"/>
                  </a:lnTo>
                  <a:lnTo>
                    <a:pt x="52452" y="508359"/>
                  </a:lnTo>
                  <a:lnTo>
                    <a:pt x="25161" y="489950"/>
                  </a:lnTo>
                  <a:lnTo>
                    <a:pt x="6752" y="462659"/>
                  </a:lnTo>
                  <a:lnTo>
                    <a:pt x="0" y="429260"/>
                  </a:lnTo>
                  <a:lnTo>
                    <a:pt x="0" y="85851"/>
                  </a:lnTo>
                  <a:close/>
                </a:path>
              </a:pathLst>
            </a:custGeom>
            <a:ln w="12191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334380" y="230200"/>
            <a:ext cx="1526540" cy="5124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200" b="1" spc="-20" dirty="0">
                <a:solidFill>
                  <a:srgbClr val="FFFFFF"/>
                </a:solidFill>
                <a:latin typeface="Calibri"/>
                <a:cs typeface="Calibri"/>
              </a:rPr>
              <a:t>Contents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381000" y="838200"/>
            <a:ext cx="11506200" cy="5232202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and Objectives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 / System Architecture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/ Workflow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 Implementation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Modules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 / Method Used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 Code / Key Code Snippets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Testing and Validation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Results / Output Screenshots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Analysis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0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30752" y="216408"/>
            <a:ext cx="4730750" cy="527685"/>
            <a:chOff x="3730752" y="216408"/>
            <a:chExt cx="4730750" cy="527685"/>
          </a:xfrm>
        </p:grpSpPr>
        <p:sp>
          <p:nvSpPr>
            <p:cNvPr id="3" name="object 3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4632452" y="0"/>
                  </a:moveTo>
                  <a:lnTo>
                    <a:pt x="85851" y="0"/>
                  </a:lnTo>
                  <a:lnTo>
                    <a:pt x="52452" y="6752"/>
                  </a:lnTo>
                  <a:lnTo>
                    <a:pt x="25161" y="25161"/>
                  </a:lnTo>
                  <a:lnTo>
                    <a:pt x="6752" y="52452"/>
                  </a:lnTo>
                  <a:lnTo>
                    <a:pt x="0" y="85851"/>
                  </a:lnTo>
                  <a:lnTo>
                    <a:pt x="0" y="429260"/>
                  </a:lnTo>
                  <a:lnTo>
                    <a:pt x="6752" y="462659"/>
                  </a:lnTo>
                  <a:lnTo>
                    <a:pt x="25161" y="489950"/>
                  </a:lnTo>
                  <a:lnTo>
                    <a:pt x="52452" y="508359"/>
                  </a:lnTo>
                  <a:lnTo>
                    <a:pt x="85851" y="515112"/>
                  </a:lnTo>
                  <a:lnTo>
                    <a:pt x="4632452" y="515112"/>
                  </a:lnTo>
                  <a:lnTo>
                    <a:pt x="4665851" y="508359"/>
                  </a:lnTo>
                  <a:lnTo>
                    <a:pt x="4693142" y="489950"/>
                  </a:lnTo>
                  <a:lnTo>
                    <a:pt x="4711551" y="462659"/>
                  </a:lnTo>
                  <a:lnTo>
                    <a:pt x="4718304" y="429260"/>
                  </a:lnTo>
                  <a:lnTo>
                    <a:pt x="4718304" y="85851"/>
                  </a:lnTo>
                  <a:lnTo>
                    <a:pt x="4711551" y="52452"/>
                  </a:lnTo>
                  <a:lnTo>
                    <a:pt x="4693142" y="25161"/>
                  </a:lnTo>
                  <a:lnTo>
                    <a:pt x="4665851" y="6752"/>
                  </a:lnTo>
                  <a:lnTo>
                    <a:pt x="46324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0" y="85851"/>
                  </a:moveTo>
                  <a:lnTo>
                    <a:pt x="6752" y="52452"/>
                  </a:lnTo>
                  <a:lnTo>
                    <a:pt x="25161" y="25161"/>
                  </a:lnTo>
                  <a:lnTo>
                    <a:pt x="52452" y="6752"/>
                  </a:lnTo>
                  <a:lnTo>
                    <a:pt x="85851" y="0"/>
                  </a:lnTo>
                  <a:lnTo>
                    <a:pt x="4632452" y="0"/>
                  </a:lnTo>
                  <a:lnTo>
                    <a:pt x="4665851" y="6752"/>
                  </a:lnTo>
                  <a:lnTo>
                    <a:pt x="4693142" y="25161"/>
                  </a:lnTo>
                  <a:lnTo>
                    <a:pt x="4711551" y="52452"/>
                  </a:lnTo>
                  <a:lnTo>
                    <a:pt x="4718304" y="85851"/>
                  </a:lnTo>
                  <a:lnTo>
                    <a:pt x="4718304" y="429260"/>
                  </a:lnTo>
                  <a:lnTo>
                    <a:pt x="4711551" y="462659"/>
                  </a:lnTo>
                  <a:lnTo>
                    <a:pt x="4693142" y="489950"/>
                  </a:lnTo>
                  <a:lnTo>
                    <a:pt x="4665851" y="508359"/>
                  </a:lnTo>
                  <a:lnTo>
                    <a:pt x="4632452" y="515112"/>
                  </a:lnTo>
                  <a:lnTo>
                    <a:pt x="85851" y="515112"/>
                  </a:lnTo>
                  <a:lnTo>
                    <a:pt x="52452" y="508359"/>
                  </a:lnTo>
                  <a:lnTo>
                    <a:pt x="25161" y="489950"/>
                  </a:lnTo>
                  <a:lnTo>
                    <a:pt x="6752" y="462659"/>
                  </a:lnTo>
                  <a:lnTo>
                    <a:pt x="0" y="429260"/>
                  </a:lnTo>
                  <a:lnTo>
                    <a:pt x="0" y="85851"/>
                  </a:lnTo>
                  <a:close/>
                </a:path>
              </a:pathLst>
            </a:custGeom>
            <a:ln w="12191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383148" y="230200"/>
            <a:ext cx="1426845" cy="5124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Abstract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2004" y="981278"/>
            <a:ext cx="9887585" cy="472313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40029" marR="40640" indent="-227329" algn="just">
              <a:lnSpc>
                <a:spcPct val="100000"/>
              </a:lnSpc>
              <a:spcBef>
                <a:spcPts val="11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problem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addressed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is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Capacitated</a:t>
            </a:r>
            <a:r>
              <a:rPr sz="2800" spc="-125" dirty="0">
                <a:latin typeface="Times New Roman"/>
                <a:cs typeface="Times New Roman"/>
              </a:rPr>
              <a:t> </a:t>
            </a:r>
            <a:r>
              <a:rPr sz="2800" spc="-40" dirty="0">
                <a:latin typeface="Times New Roman"/>
                <a:cs typeface="Times New Roman"/>
              </a:rPr>
              <a:t>Vehicle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Routing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Problem 	</a:t>
            </a:r>
            <a:r>
              <a:rPr sz="2800" dirty="0">
                <a:latin typeface="Times New Roman"/>
                <a:cs typeface="Times New Roman"/>
              </a:rPr>
              <a:t>with</a:t>
            </a:r>
            <a:r>
              <a:rPr sz="2800" spc="-13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Time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Windows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(CVRPTW),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which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is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NP-hard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difficult</a:t>
            </a:r>
            <a:r>
              <a:rPr sz="2800" spc="-11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to 	</a:t>
            </a:r>
            <a:r>
              <a:rPr sz="2800" dirty="0">
                <a:latin typeface="Times New Roman"/>
                <a:cs typeface="Times New Roman"/>
              </a:rPr>
              <a:t>solve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exactly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for</a:t>
            </a:r>
            <a:r>
              <a:rPr sz="2800" spc="-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large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fleets.</a:t>
            </a:r>
            <a:endParaRPr sz="2800" dirty="0">
              <a:latin typeface="Times New Roman"/>
              <a:cs typeface="Times New Roman"/>
            </a:endParaRPr>
          </a:p>
          <a:p>
            <a:pPr marL="240029" marR="5080" indent="-227329" algn="just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10" dirty="0">
                <a:latin typeface="Times New Roman"/>
                <a:cs typeface="Times New Roman"/>
              </a:rPr>
              <a:t>Real-</a:t>
            </a:r>
            <a:r>
              <a:rPr sz="2800" dirty="0">
                <a:latin typeface="Times New Roman"/>
                <a:cs typeface="Times New Roman"/>
              </a:rPr>
              <a:t>world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logistics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require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fast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approximation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methods</a:t>
            </a:r>
            <a:r>
              <a:rPr sz="2800" spc="-6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rather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than 	</a:t>
            </a:r>
            <a:r>
              <a:rPr sz="2800" dirty="0">
                <a:latin typeface="Times New Roman"/>
                <a:cs typeface="Times New Roman"/>
              </a:rPr>
              <a:t>exact</a:t>
            </a:r>
            <a:r>
              <a:rPr sz="2800" spc="-6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solvers.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 algn="just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project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introduces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RouteOpt,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routing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engine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that: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 algn="just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latin typeface="Times New Roman"/>
                <a:cs typeface="Times New Roman"/>
              </a:rPr>
              <a:t>Ingests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raw</a:t>
            </a:r>
            <a:r>
              <a:rPr sz="2800" spc="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stop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address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data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 algn="just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latin typeface="Times New Roman"/>
                <a:cs typeface="Times New Roman"/>
              </a:rPr>
              <a:t>Cleans,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standardizes,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geocodes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messy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addresses</a:t>
            </a:r>
            <a:endParaRPr sz="2800" dirty="0">
              <a:latin typeface="Times New Roman"/>
              <a:cs typeface="Times New Roman"/>
            </a:endParaRPr>
          </a:p>
          <a:p>
            <a:pPr marL="240029" indent="-227329" algn="just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800" dirty="0">
                <a:latin typeface="Times New Roman"/>
                <a:cs typeface="Times New Roman"/>
              </a:rPr>
              <a:t>Deduplicates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repeated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stops</a:t>
            </a:r>
            <a:endParaRPr sz="2800" dirty="0">
              <a:latin typeface="Times New Roman"/>
              <a:cs typeface="Times New Roman"/>
            </a:endParaRPr>
          </a:p>
          <a:p>
            <a:pPr marL="240029" marR="631190" indent="-227329" algn="just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Clusters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assigns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stops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vehicles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while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respecting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capacity 	constraints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30752" y="216408"/>
            <a:ext cx="4730750" cy="527685"/>
            <a:chOff x="3730752" y="216408"/>
            <a:chExt cx="4730750" cy="527685"/>
          </a:xfrm>
        </p:grpSpPr>
        <p:sp>
          <p:nvSpPr>
            <p:cNvPr id="3" name="object 3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4632452" y="0"/>
                  </a:moveTo>
                  <a:lnTo>
                    <a:pt x="85851" y="0"/>
                  </a:lnTo>
                  <a:lnTo>
                    <a:pt x="52452" y="6752"/>
                  </a:lnTo>
                  <a:lnTo>
                    <a:pt x="25161" y="25161"/>
                  </a:lnTo>
                  <a:lnTo>
                    <a:pt x="6752" y="52452"/>
                  </a:lnTo>
                  <a:lnTo>
                    <a:pt x="0" y="85851"/>
                  </a:lnTo>
                  <a:lnTo>
                    <a:pt x="0" y="429260"/>
                  </a:lnTo>
                  <a:lnTo>
                    <a:pt x="6752" y="462659"/>
                  </a:lnTo>
                  <a:lnTo>
                    <a:pt x="25161" y="489950"/>
                  </a:lnTo>
                  <a:lnTo>
                    <a:pt x="52452" y="508359"/>
                  </a:lnTo>
                  <a:lnTo>
                    <a:pt x="85851" y="515112"/>
                  </a:lnTo>
                  <a:lnTo>
                    <a:pt x="4632452" y="515112"/>
                  </a:lnTo>
                  <a:lnTo>
                    <a:pt x="4665851" y="508359"/>
                  </a:lnTo>
                  <a:lnTo>
                    <a:pt x="4693142" y="489950"/>
                  </a:lnTo>
                  <a:lnTo>
                    <a:pt x="4711551" y="462659"/>
                  </a:lnTo>
                  <a:lnTo>
                    <a:pt x="4718304" y="429260"/>
                  </a:lnTo>
                  <a:lnTo>
                    <a:pt x="4718304" y="85851"/>
                  </a:lnTo>
                  <a:lnTo>
                    <a:pt x="4711551" y="52452"/>
                  </a:lnTo>
                  <a:lnTo>
                    <a:pt x="4693142" y="25161"/>
                  </a:lnTo>
                  <a:lnTo>
                    <a:pt x="4665851" y="6752"/>
                  </a:lnTo>
                  <a:lnTo>
                    <a:pt x="46324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0" y="85851"/>
                  </a:moveTo>
                  <a:lnTo>
                    <a:pt x="6752" y="52452"/>
                  </a:lnTo>
                  <a:lnTo>
                    <a:pt x="25161" y="25161"/>
                  </a:lnTo>
                  <a:lnTo>
                    <a:pt x="52452" y="6752"/>
                  </a:lnTo>
                  <a:lnTo>
                    <a:pt x="85851" y="0"/>
                  </a:lnTo>
                  <a:lnTo>
                    <a:pt x="4632452" y="0"/>
                  </a:lnTo>
                  <a:lnTo>
                    <a:pt x="4665851" y="6752"/>
                  </a:lnTo>
                  <a:lnTo>
                    <a:pt x="4693142" y="25161"/>
                  </a:lnTo>
                  <a:lnTo>
                    <a:pt x="4711551" y="52452"/>
                  </a:lnTo>
                  <a:lnTo>
                    <a:pt x="4718304" y="85851"/>
                  </a:lnTo>
                  <a:lnTo>
                    <a:pt x="4718304" y="429260"/>
                  </a:lnTo>
                  <a:lnTo>
                    <a:pt x="4711551" y="462659"/>
                  </a:lnTo>
                  <a:lnTo>
                    <a:pt x="4693142" y="489950"/>
                  </a:lnTo>
                  <a:lnTo>
                    <a:pt x="4665851" y="508359"/>
                  </a:lnTo>
                  <a:lnTo>
                    <a:pt x="4632452" y="515112"/>
                  </a:lnTo>
                  <a:lnTo>
                    <a:pt x="85851" y="515112"/>
                  </a:lnTo>
                  <a:lnTo>
                    <a:pt x="52452" y="508359"/>
                  </a:lnTo>
                  <a:lnTo>
                    <a:pt x="25161" y="489950"/>
                  </a:lnTo>
                  <a:lnTo>
                    <a:pt x="6752" y="462659"/>
                  </a:lnTo>
                  <a:lnTo>
                    <a:pt x="0" y="429260"/>
                  </a:lnTo>
                  <a:lnTo>
                    <a:pt x="0" y="85851"/>
                  </a:lnTo>
                  <a:close/>
                </a:path>
              </a:pathLst>
            </a:custGeom>
            <a:ln w="12191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035677" y="202514"/>
            <a:ext cx="2122805" cy="5124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Introduction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2004" y="984630"/>
            <a:ext cx="9731375" cy="5148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227329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core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topic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Vehicle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Routing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Problem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(VRP)</a:t>
            </a:r>
            <a:r>
              <a:rPr sz="2400" spc="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-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generalization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the 	</a:t>
            </a:r>
            <a:r>
              <a:rPr sz="2400" dirty="0">
                <a:latin typeface="Times New Roman"/>
                <a:cs typeface="Times New Roman"/>
              </a:rPr>
              <a:t>Traveling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Salesman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Problem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multiple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vehicles.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VRP</a:t>
            </a:r>
            <a:r>
              <a:rPr sz="2400" spc="-1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central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combinatorial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optimization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logistics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planning.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Practical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variants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include: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CVRP</a:t>
            </a:r>
            <a:r>
              <a:rPr sz="2400" spc="-1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-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adds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vehicle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capacity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limits.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CVRPTW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-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adds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delivery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time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windows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for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customers.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These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variants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are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widely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used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delivery,</a:t>
            </a:r>
            <a:r>
              <a:rPr sz="2400" spc="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field-service,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transportation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ct val="100000"/>
              </a:lnSpc>
              <a:spcBef>
                <a:spcPts val="5"/>
              </a:spcBef>
            </a:pPr>
            <a:r>
              <a:rPr sz="2400" spc="-10" dirty="0">
                <a:latin typeface="Times New Roman"/>
                <a:cs typeface="Times New Roman"/>
              </a:rPr>
              <a:t>operations.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Exact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optimization</a:t>
            </a:r>
            <a:r>
              <a:rPr sz="2400" spc="-8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methods </a:t>
            </a:r>
            <a:r>
              <a:rPr sz="2400" spc="-10" dirty="0">
                <a:latin typeface="Times New Roman"/>
                <a:cs typeface="Times New Roman"/>
              </a:rPr>
              <a:t>(branch-and-</a:t>
            </a:r>
            <a:r>
              <a:rPr sz="2400" dirty="0">
                <a:latin typeface="Times New Roman"/>
                <a:cs typeface="Times New Roman"/>
              </a:rPr>
              <a:t>bound,</a:t>
            </a:r>
            <a:r>
              <a:rPr sz="2400" spc="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integer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linear</a:t>
            </a:r>
            <a:r>
              <a:rPr sz="2400" spc="-10" dirty="0">
                <a:latin typeface="Times New Roman"/>
                <a:cs typeface="Times New Roman"/>
              </a:rPr>
              <a:t> programming)</a:t>
            </a:r>
            <a:endParaRPr sz="2400">
              <a:latin typeface="Times New Roman"/>
              <a:cs typeface="Times New Roman"/>
            </a:endParaRPr>
          </a:p>
          <a:p>
            <a:pPr marR="584835" algn="ctr">
              <a:lnSpc>
                <a:spcPct val="100000"/>
              </a:lnSpc>
            </a:pPr>
            <a:r>
              <a:rPr sz="2400" dirty="0">
                <a:latin typeface="Times New Roman"/>
                <a:cs typeface="Times New Roman"/>
              </a:rPr>
              <a:t>guarantee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optimal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solutions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but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do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not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scale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beyond</a:t>
            </a:r>
            <a:r>
              <a:rPr sz="2400" spc="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few dozen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stops.</a:t>
            </a:r>
            <a:endParaRPr sz="2400">
              <a:latin typeface="Times New Roman"/>
              <a:cs typeface="Times New Roman"/>
            </a:endParaRPr>
          </a:p>
          <a:p>
            <a:pPr marL="227329" marR="502284" indent="-227329" algn="ctr">
              <a:lnSpc>
                <a:spcPct val="100000"/>
              </a:lnSpc>
              <a:buFont typeface="Arial MT"/>
              <a:buChar char="•"/>
              <a:tabLst>
                <a:tab pos="227329" algn="l"/>
              </a:tabLst>
            </a:pPr>
            <a:r>
              <a:rPr sz="2400" dirty="0">
                <a:latin typeface="Times New Roman"/>
                <a:cs typeface="Times New Roman"/>
              </a:rPr>
              <a:t>Industry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systems</a:t>
            </a:r>
            <a:r>
              <a:rPr sz="2400" spc="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rely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on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heuristics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metaheuristics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get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near-</a:t>
            </a:r>
            <a:r>
              <a:rPr sz="2400" spc="-10" dirty="0">
                <a:latin typeface="Times New Roman"/>
                <a:cs typeface="Times New Roman"/>
              </a:rPr>
              <a:t>optimal</a:t>
            </a:r>
            <a:endParaRPr sz="2400">
              <a:latin typeface="Times New Roman"/>
              <a:cs typeface="Times New Roman"/>
            </a:endParaRPr>
          </a:p>
          <a:p>
            <a:pPr marR="7074534" algn="ctr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Times New Roman"/>
                <a:cs typeface="Times New Roman"/>
              </a:rPr>
              <a:t>solutions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quickly: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Constructive</a:t>
            </a:r>
            <a:r>
              <a:rPr sz="2400" spc="-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heuristics: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nearest-</a:t>
            </a:r>
            <a:r>
              <a:rPr sz="2400" dirty="0">
                <a:latin typeface="Times New Roman"/>
                <a:cs typeface="Times New Roman"/>
              </a:rPr>
              <a:t>neighbor,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Clarke-</a:t>
            </a:r>
            <a:r>
              <a:rPr sz="2400" dirty="0">
                <a:latin typeface="Times New Roman"/>
                <a:cs typeface="Times New Roman"/>
              </a:rPr>
              <a:t>Wright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savings.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Local/metaheuristic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search: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2-opt,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40" dirty="0">
                <a:latin typeface="Times New Roman"/>
                <a:cs typeface="Times New Roman"/>
              </a:rPr>
              <a:t>Or-</a:t>
            </a:r>
            <a:r>
              <a:rPr sz="2400" dirty="0">
                <a:latin typeface="Times New Roman"/>
                <a:cs typeface="Times New Roman"/>
              </a:rPr>
              <a:t>opt,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simulated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annealing,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tabu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search.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30752" y="216408"/>
            <a:ext cx="4730750" cy="527685"/>
            <a:chOff x="3730752" y="216408"/>
            <a:chExt cx="4730750" cy="527685"/>
          </a:xfrm>
        </p:grpSpPr>
        <p:sp>
          <p:nvSpPr>
            <p:cNvPr id="3" name="object 3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4632452" y="0"/>
                  </a:moveTo>
                  <a:lnTo>
                    <a:pt x="85851" y="0"/>
                  </a:lnTo>
                  <a:lnTo>
                    <a:pt x="52452" y="6752"/>
                  </a:lnTo>
                  <a:lnTo>
                    <a:pt x="25161" y="25161"/>
                  </a:lnTo>
                  <a:lnTo>
                    <a:pt x="6752" y="52452"/>
                  </a:lnTo>
                  <a:lnTo>
                    <a:pt x="0" y="85851"/>
                  </a:lnTo>
                  <a:lnTo>
                    <a:pt x="0" y="429260"/>
                  </a:lnTo>
                  <a:lnTo>
                    <a:pt x="6752" y="462659"/>
                  </a:lnTo>
                  <a:lnTo>
                    <a:pt x="25161" y="489950"/>
                  </a:lnTo>
                  <a:lnTo>
                    <a:pt x="52452" y="508359"/>
                  </a:lnTo>
                  <a:lnTo>
                    <a:pt x="85851" y="515112"/>
                  </a:lnTo>
                  <a:lnTo>
                    <a:pt x="4632452" y="515112"/>
                  </a:lnTo>
                  <a:lnTo>
                    <a:pt x="4665851" y="508359"/>
                  </a:lnTo>
                  <a:lnTo>
                    <a:pt x="4693142" y="489950"/>
                  </a:lnTo>
                  <a:lnTo>
                    <a:pt x="4711551" y="462659"/>
                  </a:lnTo>
                  <a:lnTo>
                    <a:pt x="4718304" y="429260"/>
                  </a:lnTo>
                  <a:lnTo>
                    <a:pt x="4718304" y="85851"/>
                  </a:lnTo>
                  <a:lnTo>
                    <a:pt x="4711551" y="52452"/>
                  </a:lnTo>
                  <a:lnTo>
                    <a:pt x="4693142" y="25161"/>
                  </a:lnTo>
                  <a:lnTo>
                    <a:pt x="4665851" y="6752"/>
                  </a:lnTo>
                  <a:lnTo>
                    <a:pt x="46324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0" y="85851"/>
                  </a:moveTo>
                  <a:lnTo>
                    <a:pt x="6752" y="52452"/>
                  </a:lnTo>
                  <a:lnTo>
                    <a:pt x="25161" y="25161"/>
                  </a:lnTo>
                  <a:lnTo>
                    <a:pt x="52452" y="6752"/>
                  </a:lnTo>
                  <a:lnTo>
                    <a:pt x="85851" y="0"/>
                  </a:lnTo>
                  <a:lnTo>
                    <a:pt x="4632452" y="0"/>
                  </a:lnTo>
                  <a:lnTo>
                    <a:pt x="4665851" y="6752"/>
                  </a:lnTo>
                  <a:lnTo>
                    <a:pt x="4693142" y="25161"/>
                  </a:lnTo>
                  <a:lnTo>
                    <a:pt x="4711551" y="52452"/>
                  </a:lnTo>
                  <a:lnTo>
                    <a:pt x="4718304" y="85851"/>
                  </a:lnTo>
                  <a:lnTo>
                    <a:pt x="4718304" y="429260"/>
                  </a:lnTo>
                  <a:lnTo>
                    <a:pt x="4711551" y="462659"/>
                  </a:lnTo>
                  <a:lnTo>
                    <a:pt x="4693142" y="489950"/>
                  </a:lnTo>
                  <a:lnTo>
                    <a:pt x="4665851" y="508359"/>
                  </a:lnTo>
                  <a:lnTo>
                    <a:pt x="4632452" y="515112"/>
                  </a:lnTo>
                  <a:lnTo>
                    <a:pt x="85851" y="515112"/>
                  </a:lnTo>
                  <a:lnTo>
                    <a:pt x="52452" y="508359"/>
                  </a:lnTo>
                  <a:lnTo>
                    <a:pt x="25161" y="489950"/>
                  </a:lnTo>
                  <a:lnTo>
                    <a:pt x="6752" y="462659"/>
                  </a:lnTo>
                  <a:lnTo>
                    <a:pt x="0" y="429260"/>
                  </a:lnTo>
                  <a:lnTo>
                    <a:pt x="0" y="85851"/>
                  </a:lnTo>
                  <a:close/>
                </a:path>
              </a:pathLst>
            </a:custGeom>
            <a:ln w="12191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Literature</a:t>
            </a:r>
            <a:r>
              <a:rPr spc="-95" dirty="0"/>
              <a:t> </a:t>
            </a:r>
            <a:r>
              <a:rPr spc="-10" dirty="0"/>
              <a:t>Survey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2004" y="984630"/>
            <a:ext cx="10257790" cy="44164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453390" indent="-227329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30" dirty="0">
                <a:latin typeface="Times New Roman"/>
                <a:cs typeface="Times New Roman"/>
              </a:rPr>
              <a:t>Vehicle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Routing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Problem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(VRP):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Research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mainly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focuses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on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finding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efficient 	</a:t>
            </a:r>
            <a:r>
              <a:rPr sz="2400" dirty="0">
                <a:latin typeface="Times New Roman"/>
                <a:cs typeface="Times New Roman"/>
              </a:rPr>
              <a:t>routes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for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vehicles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while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serving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multiple</a:t>
            </a:r>
            <a:r>
              <a:rPr sz="2400" spc="-7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customers.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Capacitated</a:t>
            </a:r>
            <a:r>
              <a:rPr sz="2400" spc="-8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VRP</a:t>
            </a:r>
            <a:r>
              <a:rPr sz="2400" spc="-1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(CVRP):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Existing</a:t>
            </a:r>
            <a:r>
              <a:rPr sz="2400" spc="-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methods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consider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vehicle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capacity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constraints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ensure that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vehicle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load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does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exceed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its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maximum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capacity.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spc="-10" dirty="0">
                <a:latin typeface="Times New Roman"/>
                <a:cs typeface="Times New Roman"/>
              </a:rPr>
              <a:t>Time</a:t>
            </a:r>
            <a:r>
              <a:rPr sz="2400" spc="-10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Window</a:t>
            </a:r>
            <a:r>
              <a:rPr sz="2400" spc="-8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Constraints:</a:t>
            </a:r>
            <a:r>
              <a:rPr sz="2400" spc="-1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VRPTW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approaches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ensure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that</a:t>
            </a:r>
            <a:r>
              <a:rPr sz="2400" spc="-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customers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are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served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ct val="100000"/>
              </a:lnSpc>
            </a:pPr>
            <a:r>
              <a:rPr sz="2400" dirty="0">
                <a:latin typeface="Times New Roman"/>
                <a:cs typeface="Times New Roman"/>
              </a:rPr>
              <a:t>within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their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specified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time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windows,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making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planning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more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realistic.</a:t>
            </a:r>
            <a:endParaRPr sz="2400">
              <a:latin typeface="Times New Roman"/>
              <a:cs typeface="Times New Roman"/>
            </a:endParaRPr>
          </a:p>
          <a:p>
            <a:pPr marL="240029" marR="149225" indent="-227329" algn="just">
              <a:lnSpc>
                <a:spcPct val="100000"/>
              </a:lnSpc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imes New Roman"/>
                <a:cs typeface="Times New Roman"/>
              </a:rPr>
              <a:t>Heuristic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&amp;</a:t>
            </a:r>
            <a:r>
              <a:rPr sz="2400" spc="-1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Approximation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Methods:</a:t>
            </a:r>
            <a:r>
              <a:rPr sz="2400" spc="-11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Techniques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such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</a:t>
            </a:r>
            <a:r>
              <a:rPr sz="2400" spc="-20" dirty="0">
                <a:latin typeface="Times New Roman"/>
                <a:cs typeface="Times New Roman"/>
              </a:rPr>
              <a:t> Greedy,</a:t>
            </a:r>
            <a:r>
              <a:rPr sz="2400" spc="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2-opt,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Genetic 	</a:t>
            </a:r>
            <a:r>
              <a:rPr sz="2400" dirty="0">
                <a:latin typeface="Times New Roman"/>
                <a:cs typeface="Times New Roman"/>
              </a:rPr>
              <a:t>Algorithms,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1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Colony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Optimization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are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used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obtain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good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solutions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with 	</a:t>
            </a:r>
            <a:r>
              <a:rPr sz="2400" dirty="0">
                <a:latin typeface="Times New Roman"/>
                <a:cs typeface="Times New Roman"/>
              </a:rPr>
              <a:t>less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computation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time.</a:t>
            </a:r>
            <a:endParaRPr sz="2400">
              <a:latin typeface="Times New Roman"/>
              <a:cs typeface="Times New Roman"/>
            </a:endParaRPr>
          </a:p>
          <a:p>
            <a:pPr marL="240029" marR="5080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imes New Roman"/>
                <a:cs typeface="Times New Roman"/>
              </a:rPr>
              <a:t>Research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Gap: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Many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existing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systems</a:t>
            </a:r>
            <a:r>
              <a:rPr sz="2400" spc="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focus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mainly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on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optimization,</a:t>
            </a:r>
            <a:r>
              <a:rPr sz="2400" spc="-10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while 	</a:t>
            </a:r>
            <a:r>
              <a:rPr sz="2400" dirty="0">
                <a:latin typeface="Times New Roman"/>
                <a:cs typeface="Times New Roman"/>
              </a:rPr>
              <a:t>RouteOpt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integrates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cleaning,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validation,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capacity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constraints,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time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windows, 	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approximate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multi-vehicle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routing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into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unified</a:t>
            </a:r>
            <a:r>
              <a:rPr sz="2400" spc="-10" dirty="0">
                <a:latin typeface="Times New Roman"/>
                <a:cs typeface="Times New Roman"/>
              </a:rPr>
              <a:t> system.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654807" y="216408"/>
            <a:ext cx="6736080" cy="668020"/>
            <a:chOff x="2654807" y="216408"/>
            <a:chExt cx="6736080" cy="668020"/>
          </a:xfrm>
        </p:grpSpPr>
        <p:sp>
          <p:nvSpPr>
            <p:cNvPr id="3" name="object 3"/>
            <p:cNvSpPr/>
            <p:nvPr/>
          </p:nvSpPr>
          <p:spPr>
            <a:xfrm>
              <a:off x="2660903" y="222504"/>
              <a:ext cx="6724015" cy="655320"/>
            </a:xfrm>
            <a:custGeom>
              <a:avLst/>
              <a:gdLst/>
              <a:ahLst/>
              <a:cxnLst/>
              <a:rect l="l" t="t" r="r" b="b"/>
              <a:pathLst>
                <a:path w="6724015" h="655319">
                  <a:moveTo>
                    <a:pt x="6614668" y="0"/>
                  </a:moveTo>
                  <a:lnTo>
                    <a:pt x="109219" y="0"/>
                  </a:lnTo>
                  <a:lnTo>
                    <a:pt x="66704" y="8582"/>
                  </a:lnTo>
                  <a:lnTo>
                    <a:pt x="31988" y="31988"/>
                  </a:lnTo>
                  <a:lnTo>
                    <a:pt x="8582" y="66704"/>
                  </a:lnTo>
                  <a:lnTo>
                    <a:pt x="0" y="109220"/>
                  </a:lnTo>
                  <a:lnTo>
                    <a:pt x="0" y="546100"/>
                  </a:lnTo>
                  <a:lnTo>
                    <a:pt x="8582" y="588615"/>
                  </a:lnTo>
                  <a:lnTo>
                    <a:pt x="31988" y="623331"/>
                  </a:lnTo>
                  <a:lnTo>
                    <a:pt x="66704" y="646737"/>
                  </a:lnTo>
                  <a:lnTo>
                    <a:pt x="109219" y="655320"/>
                  </a:lnTo>
                  <a:lnTo>
                    <a:pt x="6614668" y="655320"/>
                  </a:lnTo>
                  <a:lnTo>
                    <a:pt x="6657183" y="646737"/>
                  </a:lnTo>
                  <a:lnTo>
                    <a:pt x="6691899" y="623331"/>
                  </a:lnTo>
                  <a:lnTo>
                    <a:pt x="6715305" y="588615"/>
                  </a:lnTo>
                  <a:lnTo>
                    <a:pt x="6723888" y="546100"/>
                  </a:lnTo>
                  <a:lnTo>
                    <a:pt x="6723888" y="109220"/>
                  </a:lnTo>
                  <a:lnTo>
                    <a:pt x="6715305" y="66704"/>
                  </a:lnTo>
                  <a:lnTo>
                    <a:pt x="6691899" y="31988"/>
                  </a:lnTo>
                  <a:lnTo>
                    <a:pt x="6657183" y="8582"/>
                  </a:lnTo>
                  <a:lnTo>
                    <a:pt x="6614668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660903" y="222504"/>
              <a:ext cx="6724015" cy="655320"/>
            </a:xfrm>
            <a:custGeom>
              <a:avLst/>
              <a:gdLst/>
              <a:ahLst/>
              <a:cxnLst/>
              <a:rect l="l" t="t" r="r" b="b"/>
              <a:pathLst>
                <a:path w="6724015" h="655319">
                  <a:moveTo>
                    <a:pt x="0" y="109220"/>
                  </a:moveTo>
                  <a:lnTo>
                    <a:pt x="8582" y="66704"/>
                  </a:lnTo>
                  <a:lnTo>
                    <a:pt x="31988" y="31988"/>
                  </a:lnTo>
                  <a:lnTo>
                    <a:pt x="66704" y="8582"/>
                  </a:lnTo>
                  <a:lnTo>
                    <a:pt x="109219" y="0"/>
                  </a:lnTo>
                  <a:lnTo>
                    <a:pt x="6614668" y="0"/>
                  </a:lnTo>
                  <a:lnTo>
                    <a:pt x="6657183" y="8582"/>
                  </a:lnTo>
                  <a:lnTo>
                    <a:pt x="6691899" y="31988"/>
                  </a:lnTo>
                  <a:lnTo>
                    <a:pt x="6715305" y="66704"/>
                  </a:lnTo>
                  <a:lnTo>
                    <a:pt x="6723888" y="109220"/>
                  </a:lnTo>
                  <a:lnTo>
                    <a:pt x="6723888" y="546100"/>
                  </a:lnTo>
                  <a:lnTo>
                    <a:pt x="6715305" y="588615"/>
                  </a:lnTo>
                  <a:lnTo>
                    <a:pt x="6691899" y="623331"/>
                  </a:lnTo>
                  <a:lnTo>
                    <a:pt x="6657183" y="646737"/>
                  </a:lnTo>
                  <a:lnTo>
                    <a:pt x="6614668" y="655320"/>
                  </a:lnTo>
                  <a:lnTo>
                    <a:pt x="109219" y="655320"/>
                  </a:lnTo>
                  <a:lnTo>
                    <a:pt x="66704" y="646737"/>
                  </a:lnTo>
                  <a:lnTo>
                    <a:pt x="31988" y="623331"/>
                  </a:lnTo>
                  <a:lnTo>
                    <a:pt x="8582" y="588615"/>
                  </a:lnTo>
                  <a:lnTo>
                    <a:pt x="0" y="546100"/>
                  </a:lnTo>
                  <a:lnTo>
                    <a:pt x="0" y="109220"/>
                  </a:lnTo>
                  <a:close/>
                </a:path>
              </a:pathLst>
            </a:custGeom>
            <a:ln w="12192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151377" y="301193"/>
            <a:ext cx="5890260" cy="5124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Problem</a:t>
            </a:r>
            <a:r>
              <a:rPr spc="-105" dirty="0"/>
              <a:t> </a:t>
            </a:r>
            <a:r>
              <a:rPr spc="-10" dirty="0"/>
              <a:t>Statement</a:t>
            </a:r>
            <a:r>
              <a:rPr spc="-80" dirty="0"/>
              <a:t> </a:t>
            </a:r>
            <a:r>
              <a:rPr dirty="0"/>
              <a:t>and</a:t>
            </a:r>
            <a:r>
              <a:rPr spc="-105" dirty="0"/>
              <a:t> </a:t>
            </a:r>
            <a:r>
              <a:rPr spc="-10" dirty="0"/>
              <a:t>Objectives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2004" y="984630"/>
            <a:ext cx="10328275" cy="4782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4520" indent="-227329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spc="-10" dirty="0">
                <a:latin typeface="Times New Roman"/>
                <a:cs typeface="Times New Roman"/>
              </a:rPr>
              <a:t>Real-</a:t>
            </a:r>
            <a:r>
              <a:rPr sz="2400" dirty="0">
                <a:latin typeface="Times New Roman"/>
                <a:cs typeface="Times New Roman"/>
              </a:rPr>
              <a:t>world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delivery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datasets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often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contain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missing,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duplicate,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inconsistent,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or 	</a:t>
            </a:r>
            <a:r>
              <a:rPr sz="2400" dirty="0">
                <a:latin typeface="Times New Roman"/>
                <a:cs typeface="Times New Roman"/>
              </a:rPr>
              <a:t>invalid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data,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which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can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affect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planning.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Planning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routes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for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multiple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vehicles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becomes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complex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when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vehicle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capacity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Times New Roman"/>
                <a:cs typeface="Times New Roman"/>
              </a:rPr>
              <a:t>constraints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must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satisfied.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Customers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may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have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specific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time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windows,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requiring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vehicles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arrive within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50" dirty="0">
                <a:latin typeface="Times New Roman"/>
                <a:cs typeface="Times New Roman"/>
              </a:rPr>
              <a:t>a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ct val="100000"/>
              </a:lnSpc>
            </a:pPr>
            <a:r>
              <a:rPr sz="2400" dirty="0">
                <a:latin typeface="Times New Roman"/>
                <a:cs typeface="Times New Roman"/>
              </a:rPr>
              <a:t>given time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period.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Traditional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exact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optimization</a:t>
            </a:r>
            <a:r>
              <a:rPr sz="2400" spc="-10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methods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can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become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computationally</a:t>
            </a:r>
            <a:r>
              <a:rPr sz="2400" spc="-8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expensive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for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Times New Roman"/>
                <a:cs typeface="Times New Roman"/>
              </a:rPr>
              <a:t>large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numbers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customers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vehicles.</a:t>
            </a: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There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need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for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system</a:t>
            </a:r>
            <a:r>
              <a:rPr sz="2400" spc="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that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cleans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validates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input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before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performing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ct val="100000"/>
              </a:lnSpc>
            </a:pPr>
            <a:r>
              <a:rPr sz="2400" dirty="0">
                <a:latin typeface="Times New Roman"/>
                <a:cs typeface="Times New Roman"/>
              </a:rPr>
              <a:t>route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optimization.</a:t>
            </a:r>
            <a:endParaRPr sz="2400">
              <a:latin typeface="Times New Roman"/>
              <a:cs typeface="Times New Roman"/>
            </a:endParaRPr>
          </a:p>
          <a:p>
            <a:pPr marL="240029" marR="376555" indent="-227329">
              <a:lnSpc>
                <a:spcPct val="100000"/>
              </a:lnSpc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imes New Roman"/>
                <a:cs typeface="Times New Roman"/>
              </a:rPr>
              <a:t>Therefore,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RouteOpt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aims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provide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efficient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approximation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engine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that 	</a:t>
            </a:r>
            <a:r>
              <a:rPr sz="2400" dirty="0">
                <a:latin typeface="Times New Roman"/>
                <a:cs typeface="Times New Roman"/>
              </a:rPr>
              <a:t>generates</a:t>
            </a:r>
            <a:r>
              <a:rPr sz="2400" spc="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feasible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optimized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multi-vehicle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routes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while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considering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vehicle 	</a:t>
            </a:r>
            <a:r>
              <a:rPr sz="2400" dirty="0">
                <a:latin typeface="Times New Roman"/>
                <a:cs typeface="Times New Roman"/>
              </a:rPr>
              <a:t>capacity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customer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time-</a:t>
            </a:r>
            <a:r>
              <a:rPr sz="2400" dirty="0">
                <a:latin typeface="Times New Roman"/>
                <a:cs typeface="Times New Roman"/>
              </a:rPr>
              <a:t>window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constraints.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2462213"/>
          </a:xfrm>
        </p:spPr>
        <p:txBody>
          <a:bodyPr/>
          <a:lstStyle/>
          <a:p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1: Data Ingestion and Pre-processing Layer</a:t>
            </a:r>
          </a:p>
          <a:p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2: Clustering and Allocation Layer</a:t>
            </a:r>
          </a:p>
          <a:p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3: Core Optimization Engine</a:t>
            </a:r>
          </a:p>
          <a:p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4: Evaluation and Reporting Layer</a:t>
            </a:r>
          </a:p>
          <a:p>
            <a:endParaRPr lang="en-IN" sz="32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152400"/>
            <a:ext cx="5638800" cy="9144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Proposed Methodology / System Architecture</a:t>
            </a:r>
          </a:p>
        </p:txBody>
      </p:sp>
    </p:spTree>
    <p:extLst>
      <p:ext uri="{BB962C8B-B14F-4D97-AF65-F5344CB8AC3E}">
        <p14:creationId xmlns:p14="http://schemas.microsoft.com/office/powerpoint/2010/main" val="2908043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4431983"/>
          </a:xfrm>
        </p:spPr>
        <p:txBody>
          <a:bodyPr/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1: Raw Data Ingestion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2: Data-Cleaning and Geocoding Module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3: Clustering and Vehicle Assignment (Capacity Constraints)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4: Construction Heuristics (Nearest-Neighbour / Savings Algorithm)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5: Local-Search Optimization (2-opt / Or-opt with Time Windows)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IN" sz="32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6: Output and Reporting (Metrics, Distances, Utilization)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86100" y="3048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System Design / Workflow</a:t>
            </a:r>
          </a:p>
        </p:txBody>
      </p:sp>
    </p:spTree>
    <p:extLst>
      <p:ext uri="{BB962C8B-B14F-4D97-AF65-F5344CB8AC3E}">
        <p14:creationId xmlns:p14="http://schemas.microsoft.com/office/powerpoint/2010/main" val="988704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170646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Setup</a:t>
            </a:r>
          </a:p>
          <a:p>
            <a:endParaRPr lang="en-IN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Development </a:t>
            </a:r>
            <a:r>
              <a:rPr lang="en-US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environment: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Java, Python, React, and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 </a:t>
            </a:r>
            <a:r>
              <a:rPr lang="en-US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used: </a:t>
            </a:r>
            <a:r>
              <a:rPr lang="sv-SE" dirty="0"/>
              <a:t>Java, Python, FastAPI, React, Docker</a:t>
            </a:r>
            <a:r>
              <a:rPr lang="sv-SE" dirty="0" smtClean="0"/>
              <a:t>.</a:t>
            </a:r>
          </a:p>
          <a:p>
            <a:pPr lvl="0"/>
            <a:r>
              <a:rPr lang="en-US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folder </a:t>
            </a:r>
            <a:r>
              <a:rPr lang="en-US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structure: </a:t>
            </a:r>
            <a:r>
              <a:rPr lang="en-US" dirty="0" err="1" smtClean="0">
                <a:latin typeface="+mj-lt"/>
                <a:cs typeface="Times New Roman" panose="02020603050405020304" pitchFamily="18" charset="0"/>
              </a:rPr>
              <a:t>realtime_route_optimizer</a:t>
            </a:r>
            <a:r>
              <a:rPr lang="en-US" dirty="0" smtClean="0">
                <a:latin typeface="+mj-lt"/>
                <a:cs typeface="Times New Roman" panose="02020603050405020304" pitchFamily="18" charset="0"/>
              </a:rPr>
              <a:t>/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 / Dataset 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Preparation</a:t>
            </a:r>
          </a:p>
          <a:p>
            <a:pPr lvl="0"/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</a:t>
            </a:r>
            <a:r>
              <a:rPr lang="en-US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source: </a:t>
            </a:r>
            <a:r>
              <a:rPr lang="en-IN" dirty="0"/>
              <a:t>Solomon Benchmark, </a:t>
            </a:r>
            <a:r>
              <a:rPr lang="en-IN" dirty="0" err="1"/>
              <a:t>OpenStreetMap</a:t>
            </a:r>
            <a:r>
              <a:rPr lang="en-IN" dirty="0"/>
              <a:t>, </a:t>
            </a:r>
            <a:r>
              <a:rPr lang="en-IN" dirty="0" err="1"/>
              <a:t>Kaggle</a:t>
            </a:r>
            <a:r>
              <a:rPr lang="en-IN" dirty="0"/>
              <a:t> datasets.</a:t>
            </a:r>
            <a:endParaRPr lang="en-US" b="0" dirty="0" smtClean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format: </a:t>
            </a:r>
            <a:r>
              <a:rPr lang="en-US" dirty="0"/>
              <a:t>CSV, JSON, and spatial matrices.</a:t>
            </a:r>
            <a:endParaRPr lang="en-IN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preprocessing: </a:t>
            </a:r>
            <a:r>
              <a:rPr lang="en-US" dirty="0" smtClean="0"/>
              <a:t>Cleaning</a:t>
            </a:r>
            <a:r>
              <a:rPr lang="en-US" dirty="0"/>
              <a:t>, geocoding, and matrix generation.</a:t>
            </a:r>
            <a:endParaRPr lang="en-IN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  <a:p>
            <a:pPr lvl="0"/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3048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Final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435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914399"/>
            <a:ext cx="11811000" cy="6647974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Implementation</a:t>
            </a:r>
          </a:p>
          <a:p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 </a:t>
            </a:r>
            <a:r>
              <a:rPr lang="en-US" sz="24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modules: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Preprocessing, clustering, routing, and analytics.</a:t>
            </a:r>
            <a:endParaRPr lang="en-IN" sz="24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</a:t>
            </a:r>
            <a:r>
              <a:rPr lang="en-US" sz="24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processing: 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Ingesting, validating, geocoding, matrix construction.</a:t>
            </a:r>
            <a:endParaRPr lang="en-IN" sz="24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</a:t>
            </a:r>
            <a:r>
              <a:rPr lang="en-US" sz="24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algorithm/model: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Clustering, Clarke-Wright, and 2-Opt solvers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24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 </a:t>
            </a:r>
            <a:r>
              <a:rPr lang="en-US" sz="24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generation: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Optimized routes, metrics, and alerts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24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 </a:t>
            </a:r>
            <a:r>
              <a:rPr 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  <a:p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24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 </a:t>
            </a:r>
            <a:r>
              <a:rPr lang="en-US" sz="2400" b="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steps:</a:t>
            </a:r>
          </a:p>
          <a:p>
            <a:pPr marL="514350" lvl="0" indent="-514350">
              <a:buAutoNum type="arabicParenR"/>
            </a:pPr>
            <a:r>
              <a:rPr lang="en-I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Distance Matrix 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</a:t>
            </a:r>
          </a:p>
          <a:p>
            <a:pPr marL="514350" lvl="0" indent="-514350">
              <a:buAutoNum type="arabicParenR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Clustering &amp; Fleet 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Partitioning</a:t>
            </a:r>
          </a:p>
          <a:p>
            <a:pPr marL="514350" lvl="0" indent="-514350">
              <a:buAutoNum type="arabicParenR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Route 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Construction</a:t>
            </a:r>
          </a:p>
          <a:p>
            <a:pPr marL="514350" lvl="0" indent="-514350">
              <a:buAutoNum type="arabicParenR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Path Optimization &amp; Local 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Search</a:t>
            </a:r>
          </a:p>
          <a:p>
            <a:pPr marL="514350" lvl="0" indent="-514350">
              <a:buAutoNum type="arabicParenR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Window &amp; Constraint Validation</a:t>
            </a:r>
            <a:endParaRPr lang="en-I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AutoNum type="arabicParenR"/>
            </a:pPr>
            <a:endParaRPr lang="en-I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AutoNum type="arabicParenR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1238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1000" y="2209800"/>
            <a:ext cx="11201400" cy="3877985"/>
          </a:xfrm>
        </p:spPr>
        <p:txBody>
          <a:bodyPr/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RouteOpt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raw_stops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capacity, depot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stops =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CleanAndGeocode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raw_stops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)[cite: 1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clusters =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ClusterByCapacity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(stops, capacity)[cite: 1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EACH cluster IN clusters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route =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BuildSavingsRoute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(cluster, depot)[cite: 1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route = Optimize2OptWithTimeWindows(route)[cite: 1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fleet_routes.Append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(route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 </a:t>
            </a: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ReportMetrics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fleet_routes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)[cite: 1]</a:t>
            </a: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48000" y="228600"/>
            <a:ext cx="6896100" cy="1371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Final Implementation – Algorithm Implementation - </a:t>
            </a:r>
            <a:r>
              <a:rPr lang="en-US" sz="3200" b="1" dirty="0">
                <a:solidFill>
                  <a:schemeClr val="lt1"/>
                </a:solidFill>
                <a:latin typeface="+mj-lt"/>
                <a:ea typeface="+mn-ea"/>
                <a:cs typeface="+mn-cs"/>
              </a:rPr>
              <a:t>Pseudocode</a:t>
            </a:r>
            <a:r>
              <a:rPr lang="en-US" sz="1800" b="1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</a:t>
            </a:r>
            <a:endParaRPr lang="en-IN" sz="1800" b="1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564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1000" y="2209800"/>
            <a:ext cx="11201400" cy="3447098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Vehicle Constraints &amp; Route Planning </a:t>
            </a:r>
            <a:r>
              <a:rPr lang="en-IN" dirty="0" smtClean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Parameters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dirty="0" smtClean="0">
              <a:solidFill>
                <a:schemeClr val="tx1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Vehicle Capacity: Limits on load/volume assigned per vehicle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Windows: Specific delivery/arrival time windows required for each stop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 Data: Raw stop locations, messy addresses (requiring standardization and geocoding), and duplicate entries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48000" y="228600"/>
            <a:ext cx="6896100" cy="1371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Final Implementation – Algorithm Implementation – Important Parameters</a:t>
            </a:r>
            <a:endParaRPr lang="en-IN" sz="1800" b="1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7315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914401"/>
            <a:ext cx="11734800" cy="5501506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7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Algorithms &amp; Optimization </a:t>
            </a:r>
            <a:r>
              <a:rPr lang="en-IN" sz="275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Pipeline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750" dirty="0" smtClean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Construction Heuristics: Nearest-Neighbor Algorithm and Savings Algorithm</a:t>
            </a:r>
            <a:r>
              <a:rPr lang="en-US" sz="27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Local-Search Improvement: 2-opt and Or-opt heuristics. </a:t>
            </a:r>
            <a:endParaRPr lang="en-US" sz="275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7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7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Performance Metrics (Outputs</a:t>
            </a:r>
            <a:r>
              <a:rPr lang="en-IN" sz="275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IN" sz="27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Distance: Overall travel distance across generated routes</a:t>
            </a:r>
            <a:r>
              <a:rPr lang="en-US" sz="27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Estimated Travel Time: Total calculated travel time per route</a:t>
            </a:r>
            <a:r>
              <a:rPr lang="en-US" sz="27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Vehicle Utilization: Capacity efficiency per deployed vehicle.</a:t>
            </a:r>
            <a:r>
              <a:rPr lang="en-US" sz="2750" dirty="0"/>
              <a:t> </a:t>
            </a:r>
            <a:endParaRPr lang="en-US" sz="2750" dirty="0" smtClean="0"/>
          </a:p>
          <a:p>
            <a:r>
              <a:rPr lang="en-US" sz="2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Time-Window Violations: Count/severity of missed or late delivery windows</a:t>
            </a:r>
            <a:r>
              <a:rPr lang="en-US" sz="275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Computation Time vs. Solution Quality: Performance benchmark compared against exact solvers.</a:t>
            </a:r>
            <a:endParaRPr lang="en-IN" sz="275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429215"/>
            <a:ext cx="11201400" cy="430887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152400"/>
            <a:ext cx="5753100" cy="990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User Interface / Application </a:t>
            </a:r>
            <a:r>
              <a:rPr lang="en-US" sz="3200" b="1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Implementation – Main Screen</a:t>
            </a:r>
            <a:endParaRPr lang="en-IN" sz="3200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9481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429215"/>
            <a:ext cx="11201400" cy="430887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152400"/>
            <a:ext cx="5753100" cy="990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User Interface / Application </a:t>
            </a:r>
            <a:r>
              <a:rPr lang="en-US" sz="3200" b="1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Implementation – Input Screen</a:t>
            </a:r>
            <a:endParaRPr lang="en-IN" sz="3200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32788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676400"/>
            <a:ext cx="11201400" cy="430887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152399"/>
            <a:ext cx="5981700" cy="1371601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User Interface / Application </a:t>
            </a:r>
            <a:r>
              <a:rPr lang="en-US" sz="3200" b="1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Implementation – Processing Screen</a:t>
            </a:r>
            <a:endParaRPr lang="en-IN" sz="3200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324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828800"/>
            <a:ext cx="11201400" cy="430887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099" y="152399"/>
            <a:ext cx="5792429" cy="1410929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User Interface / Application </a:t>
            </a:r>
            <a:r>
              <a:rPr lang="en-US" sz="3200" b="1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Implementation – Output Screen</a:t>
            </a:r>
            <a:endParaRPr lang="en-IN" sz="3200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3563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334000"/>
          </a:xfrm>
        </p:spPr>
        <p:txBody>
          <a:bodyPr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206478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Testing – Test Cases</a:t>
            </a:r>
          </a:p>
        </p:txBody>
      </p:sp>
    </p:spTree>
    <p:extLst>
      <p:ext uri="{BB962C8B-B14F-4D97-AF65-F5344CB8AC3E}">
        <p14:creationId xmlns:p14="http://schemas.microsoft.com/office/powerpoint/2010/main" val="1223908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334000"/>
          </a:xfrm>
        </p:spPr>
        <p:txBody>
          <a:bodyPr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206478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Testing – Expected Output</a:t>
            </a:r>
          </a:p>
        </p:txBody>
      </p:sp>
    </p:spTree>
    <p:extLst>
      <p:ext uri="{BB962C8B-B14F-4D97-AF65-F5344CB8AC3E}">
        <p14:creationId xmlns:p14="http://schemas.microsoft.com/office/powerpoint/2010/main" val="13436888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334000"/>
          </a:xfrm>
        </p:spPr>
        <p:txBody>
          <a:bodyPr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206478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Testing – Actual Output</a:t>
            </a:r>
          </a:p>
        </p:txBody>
      </p:sp>
    </p:spTree>
    <p:extLst>
      <p:ext uri="{BB962C8B-B14F-4D97-AF65-F5344CB8AC3E}">
        <p14:creationId xmlns:p14="http://schemas.microsoft.com/office/powerpoint/2010/main" val="13930365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334000"/>
          </a:xfrm>
        </p:spPr>
        <p:txBody>
          <a:bodyPr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206478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Testing – Accuracy Performance</a:t>
            </a:r>
          </a:p>
        </p:txBody>
      </p:sp>
    </p:spTree>
    <p:extLst>
      <p:ext uri="{BB962C8B-B14F-4D97-AF65-F5344CB8AC3E}">
        <p14:creationId xmlns:p14="http://schemas.microsoft.com/office/powerpoint/2010/main" val="2880099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334000"/>
          </a:xfrm>
        </p:spPr>
        <p:txBody>
          <a:bodyPr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67050" y="228600"/>
            <a:ext cx="5676900" cy="9144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Final Output – Output Screenshots</a:t>
            </a:r>
          </a:p>
        </p:txBody>
      </p:sp>
    </p:spTree>
    <p:extLst>
      <p:ext uri="{BB962C8B-B14F-4D97-AF65-F5344CB8AC3E}">
        <p14:creationId xmlns:p14="http://schemas.microsoft.com/office/powerpoint/2010/main" val="15878965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334000"/>
          </a:xfrm>
        </p:spPr>
        <p:txBody>
          <a:bodyPr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67050" y="228600"/>
            <a:ext cx="5676900" cy="9144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Final Output – Sample Inputs and Outputs</a:t>
            </a:r>
          </a:p>
        </p:txBody>
      </p:sp>
    </p:spTree>
    <p:extLst>
      <p:ext uri="{BB962C8B-B14F-4D97-AF65-F5344CB8AC3E}">
        <p14:creationId xmlns:p14="http://schemas.microsoft.com/office/powerpoint/2010/main" val="15589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334000"/>
          </a:xfrm>
        </p:spPr>
        <p:txBody>
          <a:bodyPr/>
          <a:lstStyle/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67050" y="228600"/>
            <a:ext cx="5676900" cy="9144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Final Output – Performance metrics</a:t>
            </a:r>
          </a:p>
        </p:txBody>
      </p:sp>
    </p:spTree>
    <p:extLst>
      <p:ext uri="{BB962C8B-B14F-4D97-AF65-F5344CB8AC3E}">
        <p14:creationId xmlns:p14="http://schemas.microsoft.com/office/powerpoint/2010/main" val="18982629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03232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3048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Implementation Modules</a:t>
            </a:r>
          </a:p>
        </p:txBody>
      </p:sp>
    </p:spTree>
    <p:extLst>
      <p:ext uri="{BB962C8B-B14F-4D97-AF65-F5344CB8AC3E}">
        <p14:creationId xmlns:p14="http://schemas.microsoft.com/office/powerpoint/2010/main" val="13785213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03232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3048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Algorithm / Method Used </a:t>
            </a:r>
          </a:p>
        </p:txBody>
      </p:sp>
    </p:spTree>
    <p:extLst>
      <p:ext uri="{BB962C8B-B14F-4D97-AF65-F5344CB8AC3E}">
        <p14:creationId xmlns:p14="http://schemas.microsoft.com/office/powerpoint/2010/main" val="4162697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03232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228600"/>
            <a:ext cx="5638800" cy="8382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Source Code / Key Code Snippets</a:t>
            </a:r>
          </a:p>
        </p:txBody>
      </p:sp>
    </p:spTree>
    <p:extLst>
      <p:ext uri="{BB962C8B-B14F-4D97-AF65-F5344CB8AC3E}">
        <p14:creationId xmlns:p14="http://schemas.microsoft.com/office/powerpoint/2010/main" val="866420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03232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3048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Testing and Validation</a:t>
            </a:r>
          </a:p>
        </p:txBody>
      </p:sp>
    </p:spTree>
    <p:extLst>
      <p:ext uri="{BB962C8B-B14F-4D97-AF65-F5344CB8AC3E}">
        <p14:creationId xmlns:p14="http://schemas.microsoft.com/office/powerpoint/2010/main" val="1837399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03232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152400"/>
            <a:ext cx="5638800" cy="9144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Experimental Results / Output Screenshots </a:t>
            </a:r>
          </a:p>
        </p:txBody>
      </p:sp>
    </p:spTree>
    <p:extLst>
      <p:ext uri="{BB962C8B-B14F-4D97-AF65-F5344CB8AC3E}">
        <p14:creationId xmlns:p14="http://schemas.microsoft.com/office/powerpoint/2010/main" val="29958029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503232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Rounded Rectangle 3"/>
          <p:cNvSpPr/>
          <p:nvPr/>
        </p:nvSpPr>
        <p:spPr>
          <a:xfrm>
            <a:off x="3086100" y="1524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Performance Analysis</a:t>
            </a:r>
          </a:p>
        </p:txBody>
      </p:sp>
    </p:spTree>
    <p:extLst>
      <p:ext uri="{BB962C8B-B14F-4D97-AF65-F5344CB8AC3E}">
        <p14:creationId xmlns:p14="http://schemas.microsoft.com/office/powerpoint/2010/main" val="29486573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4924425"/>
          </a:xfrm>
        </p:spPr>
        <p:txBody>
          <a:bodyPr/>
          <a:lstStyle/>
          <a:p>
            <a:r>
              <a:rPr lang="en-US" sz="4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RouteOpt</a:t>
            </a:r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addresses the NP-hard complexity of CVRPTW by replacing exact solvers with a fast heuristic pipeline. Standardizing data, clustering stops, and applying construction heuristics with 2-opt and Or-opt local searches delivers near-optimal routes quickly. This offers operators a practical balance between computation speed, total distance, vehicle utilization, and time-window constraints. </a:t>
            </a:r>
            <a:endParaRPr lang="en-IN" sz="4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1524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Discussion</a:t>
            </a:r>
          </a:p>
        </p:txBody>
      </p:sp>
    </p:spTree>
    <p:extLst>
      <p:ext uri="{BB962C8B-B14F-4D97-AF65-F5344CB8AC3E}">
        <p14:creationId xmlns:p14="http://schemas.microsoft.com/office/powerpoint/2010/main" val="38606427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30752" y="216408"/>
            <a:ext cx="4730750" cy="527685"/>
            <a:chOff x="3730752" y="216408"/>
            <a:chExt cx="4730750" cy="527685"/>
          </a:xfrm>
        </p:grpSpPr>
        <p:sp>
          <p:nvSpPr>
            <p:cNvPr id="3" name="object 3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4632452" y="0"/>
                  </a:moveTo>
                  <a:lnTo>
                    <a:pt x="85851" y="0"/>
                  </a:lnTo>
                  <a:lnTo>
                    <a:pt x="52452" y="6752"/>
                  </a:lnTo>
                  <a:lnTo>
                    <a:pt x="25161" y="25161"/>
                  </a:lnTo>
                  <a:lnTo>
                    <a:pt x="6752" y="52452"/>
                  </a:lnTo>
                  <a:lnTo>
                    <a:pt x="0" y="85851"/>
                  </a:lnTo>
                  <a:lnTo>
                    <a:pt x="0" y="429260"/>
                  </a:lnTo>
                  <a:lnTo>
                    <a:pt x="6752" y="462659"/>
                  </a:lnTo>
                  <a:lnTo>
                    <a:pt x="25161" y="489950"/>
                  </a:lnTo>
                  <a:lnTo>
                    <a:pt x="52452" y="508359"/>
                  </a:lnTo>
                  <a:lnTo>
                    <a:pt x="85851" y="515112"/>
                  </a:lnTo>
                  <a:lnTo>
                    <a:pt x="4632452" y="515112"/>
                  </a:lnTo>
                  <a:lnTo>
                    <a:pt x="4665851" y="508359"/>
                  </a:lnTo>
                  <a:lnTo>
                    <a:pt x="4693142" y="489950"/>
                  </a:lnTo>
                  <a:lnTo>
                    <a:pt x="4711551" y="462659"/>
                  </a:lnTo>
                  <a:lnTo>
                    <a:pt x="4718304" y="429260"/>
                  </a:lnTo>
                  <a:lnTo>
                    <a:pt x="4718304" y="85851"/>
                  </a:lnTo>
                  <a:lnTo>
                    <a:pt x="4711551" y="52452"/>
                  </a:lnTo>
                  <a:lnTo>
                    <a:pt x="4693142" y="25161"/>
                  </a:lnTo>
                  <a:lnTo>
                    <a:pt x="4665851" y="6752"/>
                  </a:lnTo>
                  <a:lnTo>
                    <a:pt x="46324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0" y="85851"/>
                  </a:moveTo>
                  <a:lnTo>
                    <a:pt x="6752" y="52452"/>
                  </a:lnTo>
                  <a:lnTo>
                    <a:pt x="25161" y="25161"/>
                  </a:lnTo>
                  <a:lnTo>
                    <a:pt x="52452" y="6752"/>
                  </a:lnTo>
                  <a:lnTo>
                    <a:pt x="85851" y="0"/>
                  </a:lnTo>
                  <a:lnTo>
                    <a:pt x="4632452" y="0"/>
                  </a:lnTo>
                  <a:lnTo>
                    <a:pt x="4665851" y="6752"/>
                  </a:lnTo>
                  <a:lnTo>
                    <a:pt x="4693142" y="25161"/>
                  </a:lnTo>
                  <a:lnTo>
                    <a:pt x="4711551" y="52452"/>
                  </a:lnTo>
                  <a:lnTo>
                    <a:pt x="4718304" y="85851"/>
                  </a:lnTo>
                  <a:lnTo>
                    <a:pt x="4718304" y="429260"/>
                  </a:lnTo>
                  <a:lnTo>
                    <a:pt x="4711551" y="462659"/>
                  </a:lnTo>
                  <a:lnTo>
                    <a:pt x="4693142" y="489950"/>
                  </a:lnTo>
                  <a:lnTo>
                    <a:pt x="4665851" y="508359"/>
                  </a:lnTo>
                  <a:lnTo>
                    <a:pt x="4632452" y="515112"/>
                  </a:lnTo>
                  <a:lnTo>
                    <a:pt x="85851" y="515112"/>
                  </a:lnTo>
                  <a:lnTo>
                    <a:pt x="52452" y="508359"/>
                  </a:lnTo>
                  <a:lnTo>
                    <a:pt x="25161" y="489950"/>
                  </a:lnTo>
                  <a:lnTo>
                    <a:pt x="6752" y="462659"/>
                  </a:lnTo>
                  <a:lnTo>
                    <a:pt x="0" y="429260"/>
                  </a:lnTo>
                  <a:lnTo>
                    <a:pt x="0" y="85851"/>
                  </a:lnTo>
                  <a:close/>
                </a:path>
              </a:pathLst>
            </a:custGeom>
            <a:ln w="12191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35305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Conclusion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2004" y="981278"/>
            <a:ext cx="10155555" cy="514985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40029" marR="6985" indent="-227329">
              <a:lnSpc>
                <a:spcPct val="100000"/>
              </a:lnSpc>
              <a:spcBef>
                <a:spcPts val="11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RouteOpt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provides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integrated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solution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for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data</a:t>
            </a:r>
            <a:r>
              <a:rPr sz="2800" spc="-6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cleaning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multi-	</a:t>
            </a:r>
            <a:r>
              <a:rPr sz="2800" dirty="0">
                <a:latin typeface="Times New Roman"/>
                <a:cs typeface="Times New Roman"/>
              </a:rPr>
              <a:t>vehicle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optimization.</a:t>
            </a:r>
            <a:endParaRPr sz="2800">
              <a:latin typeface="Times New Roman"/>
              <a:cs typeface="Times New Roman"/>
            </a:endParaRPr>
          </a:p>
          <a:p>
            <a:pPr marL="240029" marR="394335" indent="-227329">
              <a:lnSpc>
                <a:spcPct val="100000"/>
              </a:lnSpc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system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handles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vehicle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capacity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constraints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customer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time 	</a:t>
            </a:r>
            <a:r>
              <a:rPr sz="2800" dirty="0">
                <a:latin typeface="Times New Roman"/>
                <a:cs typeface="Times New Roman"/>
              </a:rPr>
              <a:t>windows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generate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feasible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routes.</a:t>
            </a:r>
            <a:endParaRPr sz="2800">
              <a:latin typeface="Times New Roman"/>
              <a:cs typeface="Times New Roman"/>
            </a:endParaRPr>
          </a:p>
          <a:p>
            <a:pPr marL="240029" marR="242570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Data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cleaning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validation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improve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accuracy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reliability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of 	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optimization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process.</a:t>
            </a:r>
            <a:endParaRPr sz="2800">
              <a:latin typeface="Times New Roman"/>
              <a:cs typeface="Times New Roman"/>
            </a:endParaRPr>
          </a:p>
          <a:p>
            <a:pPr marL="240029" marR="5080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Approximation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heuristic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techniques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help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generate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efficient</a:t>
            </a:r>
            <a:r>
              <a:rPr sz="2800" spc="-10" dirty="0">
                <a:latin typeface="Times New Roman"/>
                <a:cs typeface="Times New Roman"/>
              </a:rPr>
              <a:t> routes 	</a:t>
            </a:r>
            <a:r>
              <a:rPr sz="2800" dirty="0">
                <a:latin typeface="Times New Roman"/>
                <a:cs typeface="Times New Roman"/>
              </a:rPr>
              <a:t>with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reduced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computation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time.</a:t>
            </a:r>
            <a:endParaRPr sz="2800">
              <a:latin typeface="Times New Roman"/>
              <a:cs typeface="Times New Roman"/>
            </a:endParaRPr>
          </a:p>
          <a:p>
            <a:pPr marL="240029" marR="625475" indent="-227329">
              <a:lnSpc>
                <a:spcPct val="100000"/>
              </a:lnSpc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proposed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system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can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be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useful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logistics,</a:t>
            </a:r>
            <a:r>
              <a:rPr sz="2800" spc="-6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delivery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services, 	</a:t>
            </a:r>
            <a:r>
              <a:rPr sz="2800" dirty="0">
                <a:latin typeface="Times New Roman"/>
                <a:cs typeface="Times New Roman"/>
              </a:rPr>
              <a:t>transportation,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fleet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management.</a:t>
            </a:r>
            <a:endParaRPr sz="2800">
              <a:latin typeface="Times New Roman"/>
              <a:cs typeface="Times New Roman"/>
            </a:endParaRPr>
          </a:p>
          <a:p>
            <a:pPr marL="240029" marR="1137285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Overall,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RouteOpt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provides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</a:t>
            </a:r>
            <a:r>
              <a:rPr sz="2800" spc="-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practical,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scalable,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efficient 	</a:t>
            </a:r>
            <a:r>
              <a:rPr sz="2800" dirty="0">
                <a:latin typeface="Times New Roman"/>
                <a:cs typeface="Times New Roman"/>
              </a:rPr>
              <a:t>approach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real-world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route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optimization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problems.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30752" y="216408"/>
            <a:ext cx="4730750" cy="527685"/>
            <a:chOff x="3730752" y="216408"/>
            <a:chExt cx="4730750" cy="527685"/>
          </a:xfrm>
        </p:grpSpPr>
        <p:sp>
          <p:nvSpPr>
            <p:cNvPr id="3" name="object 3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4632452" y="0"/>
                  </a:moveTo>
                  <a:lnTo>
                    <a:pt x="85851" y="0"/>
                  </a:lnTo>
                  <a:lnTo>
                    <a:pt x="52452" y="6752"/>
                  </a:lnTo>
                  <a:lnTo>
                    <a:pt x="25161" y="25161"/>
                  </a:lnTo>
                  <a:lnTo>
                    <a:pt x="6752" y="52452"/>
                  </a:lnTo>
                  <a:lnTo>
                    <a:pt x="0" y="85851"/>
                  </a:lnTo>
                  <a:lnTo>
                    <a:pt x="0" y="429260"/>
                  </a:lnTo>
                  <a:lnTo>
                    <a:pt x="6752" y="462659"/>
                  </a:lnTo>
                  <a:lnTo>
                    <a:pt x="25161" y="489950"/>
                  </a:lnTo>
                  <a:lnTo>
                    <a:pt x="52452" y="508359"/>
                  </a:lnTo>
                  <a:lnTo>
                    <a:pt x="85851" y="515112"/>
                  </a:lnTo>
                  <a:lnTo>
                    <a:pt x="4632452" y="515112"/>
                  </a:lnTo>
                  <a:lnTo>
                    <a:pt x="4665851" y="508359"/>
                  </a:lnTo>
                  <a:lnTo>
                    <a:pt x="4693142" y="489950"/>
                  </a:lnTo>
                  <a:lnTo>
                    <a:pt x="4711551" y="462659"/>
                  </a:lnTo>
                  <a:lnTo>
                    <a:pt x="4718304" y="429260"/>
                  </a:lnTo>
                  <a:lnTo>
                    <a:pt x="4718304" y="85851"/>
                  </a:lnTo>
                  <a:lnTo>
                    <a:pt x="4711551" y="52452"/>
                  </a:lnTo>
                  <a:lnTo>
                    <a:pt x="4693142" y="25161"/>
                  </a:lnTo>
                  <a:lnTo>
                    <a:pt x="4665851" y="6752"/>
                  </a:lnTo>
                  <a:lnTo>
                    <a:pt x="4632452" y="0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736848" y="222504"/>
              <a:ext cx="4718685" cy="515620"/>
            </a:xfrm>
            <a:custGeom>
              <a:avLst/>
              <a:gdLst/>
              <a:ahLst/>
              <a:cxnLst/>
              <a:rect l="l" t="t" r="r" b="b"/>
              <a:pathLst>
                <a:path w="4718684" h="515620">
                  <a:moveTo>
                    <a:pt x="0" y="85851"/>
                  </a:moveTo>
                  <a:lnTo>
                    <a:pt x="6752" y="52452"/>
                  </a:lnTo>
                  <a:lnTo>
                    <a:pt x="25161" y="25161"/>
                  </a:lnTo>
                  <a:lnTo>
                    <a:pt x="52452" y="6752"/>
                  </a:lnTo>
                  <a:lnTo>
                    <a:pt x="85851" y="0"/>
                  </a:lnTo>
                  <a:lnTo>
                    <a:pt x="4632452" y="0"/>
                  </a:lnTo>
                  <a:lnTo>
                    <a:pt x="4665851" y="6752"/>
                  </a:lnTo>
                  <a:lnTo>
                    <a:pt x="4693142" y="25161"/>
                  </a:lnTo>
                  <a:lnTo>
                    <a:pt x="4711551" y="52452"/>
                  </a:lnTo>
                  <a:lnTo>
                    <a:pt x="4718304" y="85851"/>
                  </a:lnTo>
                  <a:lnTo>
                    <a:pt x="4718304" y="429260"/>
                  </a:lnTo>
                  <a:lnTo>
                    <a:pt x="4711551" y="462659"/>
                  </a:lnTo>
                  <a:lnTo>
                    <a:pt x="4693142" y="489950"/>
                  </a:lnTo>
                  <a:lnTo>
                    <a:pt x="4665851" y="508359"/>
                  </a:lnTo>
                  <a:lnTo>
                    <a:pt x="4632452" y="515112"/>
                  </a:lnTo>
                  <a:lnTo>
                    <a:pt x="85851" y="515112"/>
                  </a:lnTo>
                  <a:lnTo>
                    <a:pt x="52452" y="508359"/>
                  </a:lnTo>
                  <a:lnTo>
                    <a:pt x="25161" y="489950"/>
                  </a:lnTo>
                  <a:lnTo>
                    <a:pt x="6752" y="462659"/>
                  </a:lnTo>
                  <a:lnTo>
                    <a:pt x="0" y="429260"/>
                  </a:lnTo>
                  <a:lnTo>
                    <a:pt x="0" y="85851"/>
                  </a:lnTo>
                  <a:close/>
                </a:path>
              </a:pathLst>
            </a:custGeom>
            <a:ln w="12191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029580" y="163194"/>
            <a:ext cx="2225040" cy="5124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/>
              <a:t>Future</a:t>
            </a:r>
            <a:r>
              <a:rPr spc="-114" dirty="0"/>
              <a:t> </a:t>
            </a:r>
            <a:r>
              <a:rPr spc="-10" dirty="0"/>
              <a:t>Scope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2004" y="981278"/>
            <a:ext cx="10062845" cy="429641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40029" marR="5080" indent="-227329">
              <a:lnSpc>
                <a:spcPct val="100000"/>
              </a:lnSpc>
              <a:spcBef>
                <a:spcPts val="11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10" dirty="0">
                <a:latin typeface="Times New Roman"/>
                <a:cs typeface="Times New Roman"/>
              </a:rPr>
              <a:t>Real-Time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Route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Optimization:</a:t>
            </a:r>
            <a:r>
              <a:rPr sz="2800" spc="-1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Integrate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live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traffic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GPS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data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to 	</a:t>
            </a:r>
            <a:r>
              <a:rPr sz="2800" dirty="0">
                <a:latin typeface="Times New Roman"/>
                <a:cs typeface="Times New Roman"/>
              </a:rPr>
              <a:t>dynamically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update</a:t>
            </a:r>
            <a:r>
              <a:rPr sz="2800" spc="-114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routes.</a:t>
            </a:r>
            <a:endParaRPr sz="2800">
              <a:latin typeface="Times New Roman"/>
              <a:cs typeface="Times New Roman"/>
            </a:endParaRPr>
          </a:p>
          <a:p>
            <a:pPr marL="240029" marR="829310" indent="-227329">
              <a:lnSpc>
                <a:spcPct val="100000"/>
              </a:lnSpc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Machine</a:t>
            </a:r>
            <a:r>
              <a:rPr sz="2800" spc="-114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Learning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Integration: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Use</a:t>
            </a:r>
            <a:r>
              <a:rPr sz="2800" spc="-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machine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learning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predict 	</a:t>
            </a:r>
            <a:r>
              <a:rPr sz="2800" dirty="0">
                <a:latin typeface="Times New Roman"/>
                <a:cs typeface="Times New Roman"/>
              </a:rPr>
              <a:t>delivery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times,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traffic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conditions,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customer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demand.</a:t>
            </a:r>
            <a:endParaRPr sz="2800">
              <a:latin typeface="Times New Roman"/>
              <a:cs typeface="Times New Roman"/>
            </a:endParaRPr>
          </a:p>
          <a:p>
            <a:pPr marL="240029" marR="661035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Advanced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Optimization: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Implement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advanced</a:t>
            </a:r>
            <a:r>
              <a:rPr sz="2800" spc="-1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metaheuristic</a:t>
            </a:r>
            <a:r>
              <a:rPr sz="2800" spc="-135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and 	</a:t>
            </a:r>
            <a:r>
              <a:rPr sz="2800" dirty="0">
                <a:latin typeface="Times New Roman"/>
                <a:cs typeface="Times New Roman"/>
              </a:rPr>
              <a:t>hybrid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algorithms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improve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route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quality.</a:t>
            </a:r>
            <a:endParaRPr sz="2800">
              <a:latin typeface="Times New Roman"/>
              <a:cs typeface="Times New Roman"/>
            </a:endParaRPr>
          </a:p>
          <a:p>
            <a:pPr marL="240029" marR="19050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Real-</a:t>
            </a:r>
            <a:r>
              <a:rPr sz="2800" spc="-10" dirty="0">
                <a:latin typeface="Times New Roman"/>
                <a:cs typeface="Times New Roman"/>
              </a:rPr>
              <a:t>Time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Data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Cleaning:</a:t>
            </a:r>
            <a:r>
              <a:rPr sz="2800" spc="-2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Automatically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detect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correct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incorrect 	</a:t>
            </a:r>
            <a:r>
              <a:rPr sz="2800" dirty="0">
                <a:latin typeface="Times New Roman"/>
                <a:cs typeface="Times New Roman"/>
              </a:rPr>
              <a:t>or</a:t>
            </a:r>
            <a:r>
              <a:rPr sz="2800" spc="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missing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routing</a:t>
            </a:r>
            <a:r>
              <a:rPr sz="2800" spc="-8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data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during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operation.</a:t>
            </a:r>
            <a:endParaRPr sz="2800">
              <a:latin typeface="Times New Roman"/>
              <a:cs typeface="Times New Roman"/>
            </a:endParaRPr>
          </a:p>
          <a:p>
            <a:pPr marL="240029" marR="80010" indent="-227329">
              <a:lnSpc>
                <a:spcPct val="100000"/>
              </a:lnSpc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Map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Integration: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Integrate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Google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Maps,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OpenStreetMap,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or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similar 	</a:t>
            </a:r>
            <a:r>
              <a:rPr sz="2800" dirty="0">
                <a:latin typeface="Times New Roman"/>
                <a:cs typeface="Times New Roman"/>
              </a:rPr>
              <a:t>services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for</a:t>
            </a:r>
            <a:r>
              <a:rPr sz="2800" spc="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real-world</a:t>
            </a:r>
            <a:r>
              <a:rPr sz="2800" spc="-6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route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visualization.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95400"/>
            <a:ext cx="11201400" cy="4924425"/>
          </a:xfrm>
        </p:spPr>
        <p:txBody>
          <a:bodyPr/>
          <a:lstStyle/>
          <a:p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references for </a:t>
            </a:r>
            <a:r>
              <a:rPr lang="en-US" sz="4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RouteOpt</a:t>
            </a:r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include Clarke and Wright (1964) for the savings heuristic, </a:t>
            </a:r>
            <a:r>
              <a:rPr lang="en-US" sz="4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Croes</a:t>
            </a:r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(1958) for 2-opt edge swapping, and Or (1976) for segment relocate moves. Additionally, Solomon (1987) and </a:t>
            </a:r>
            <a:r>
              <a:rPr lang="en-US" sz="4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Toth</a:t>
            </a:r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Vigo (2014) provide fundamental frameworks for solving time-window constraints and capacitated vehicle routing problems.</a:t>
            </a:r>
            <a:endParaRPr lang="en-IN" sz="4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86100" y="304800"/>
            <a:ext cx="5638800" cy="6096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b="1" dirty="0" smtClean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5548694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321046" y="3018485"/>
            <a:ext cx="1778000" cy="5124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Thank</a:t>
            </a:r>
            <a:r>
              <a:rPr spc="-65" dirty="0"/>
              <a:t> </a:t>
            </a:r>
            <a:r>
              <a:rPr spc="-25" dirty="0"/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</TotalTime>
  <Words>839</Words>
  <Application>Microsoft Office PowerPoint</Application>
  <PresentationFormat>Widescreen</PresentationFormat>
  <Paragraphs>170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Arial MT</vt:lpstr>
      <vt:lpstr>Calibri</vt:lpstr>
      <vt:lpstr>Tahoma</vt:lpstr>
      <vt:lpstr>Times New Roman</vt:lpstr>
      <vt:lpstr>Office Theme</vt:lpstr>
      <vt:lpstr>Data Structures and Algorithms -3 (25CS2103E)</vt:lpstr>
      <vt:lpstr>PowerPoint Presentation</vt:lpstr>
      <vt:lpstr>Abstract</vt:lpstr>
      <vt:lpstr>Introduction</vt:lpstr>
      <vt:lpstr>Literature Survey</vt:lpstr>
      <vt:lpstr>Problem Statement and Objectives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</vt:lpstr>
      <vt:lpstr>Future Scope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Structures and Algorithms -3 (25CS2103E)</dc:title>
  <cp:lastModifiedBy>Sairohit</cp:lastModifiedBy>
  <cp:revision>25</cp:revision>
  <dcterms:created xsi:type="dcterms:W3CDTF">2026-09-12T04:35:17Z</dcterms:created>
  <dcterms:modified xsi:type="dcterms:W3CDTF">2026-09-20T06:35:26Z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2026-08-27T00:00:00Z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2026-09-12T00:00:00Z</vt:filetime>
  </property>
  <property fmtid="{D5CDD505-2E9C-101B-9397-08002B2CF9AE}" pid="6" name="Producer">
    <vt:lpwstr>www.ilovepdf.com</vt:lpwstr>
  </property>
</Properties>
</file>