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1" r:id="rId9"/>
    <p:sldId id="272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73" r:id="rId26"/>
    <p:sldId id="274" r:id="rId27"/>
    <p:sldId id="275" r:id="rId28"/>
    <p:sldId id="297" r:id="rId29"/>
    <p:sldId id="277" r:id="rId30"/>
    <p:sldId id="278" r:id="rId31"/>
    <p:sldId id="279" r:id="rId32"/>
    <p:sldId id="280" r:id="rId33"/>
    <p:sldId id="265" r:id="rId34"/>
    <p:sldId id="266" r:id="rId35"/>
    <p:sldId id="270" r:id="rId36"/>
    <p:sldId id="267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635"/>
  </p:normalViewPr>
  <p:slideViewPr>
    <p:cSldViewPr>
      <p:cViewPr varScale="1">
        <p:scale>
          <a:sx n="43" d="100"/>
          <a:sy n="43" d="100"/>
        </p:scale>
        <p:origin x="282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4720335" y="0"/>
                </a:moveTo>
                <a:lnTo>
                  <a:pt x="226567" y="0"/>
                </a:lnTo>
                <a:lnTo>
                  <a:pt x="180916" y="4604"/>
                </a:lnTo>
                <a:lnTo>
                  <a:pt x="138392" y="17809"/>
                </a:lnTo>
                <a:lnTo>
                  <a:pt x="99907" y="38703"/>
                </a:lnTo>
                <a:lnTo>
                  <a:pt x="66373" y="66373"/>
                </a:lnTo>
                <a:lnTo>
                  <a:pt x="38703" y="99907"/>
                </a:lnTo>
                <a:lnTo>
                  <a:pt x="17809" y="138392"/>
                </a:lnTo>
                <a:lnTo>
                  <a:pt x="4604" y="180916"/>
                </a:lnTo>
                <a:lnTo>
                  <a:pt x="0" y="226567"/>
                </a:lnTo>
                <a:lnTo>
                  <a:pt x="0" y="1132839"/>
                </a:lnTo>
                <a:lnTo>
                  <a:pt x="4604" y="1178491"/>
                </a:lnTo>
                <a:lnTo>
                  <a:pt x="17809" y="1221015"/>
                </a:lnTo>
                <a:lnTo>
                  <a:pt x="38703" y="1259500"/>
                </a:lnTo>
                <a:lnTo>
                  <a:pt x="66373" y="1293034"/>
                </a:lnTo>
                <a:lnTo>
                  <a:pt x="99907" y="1320704"/>
                </a:lnTo>
                <a:lnTo>
                  <a:pt x="138392" y="1341598"/>
                </a:lnTo>
                <a:lnTo>
                  <a:pt x="180916" y="1354803"/>
                </a:lnTo>
                <a:lnTo>
                  <a:pt x="226567" y="1359407"/>
                </a:lnTo>
                <a:lnTo>
                  <a:pt x="4720335" y="1359407"/>
                </a:lnTo>
                <a:lnTo>
                  <a:pt x="4765987" y="1354803"/>
                </a:lnTo>
                <a:lnTo>
                  <a:pt x="4808511" y="1341598"/>
                </a:lnTo>
                <a:lnTo>
                  <a:pt x="4846996" y="1320704"/>
                </a:lnTo>
                <a:lnTo>
                  <a:pt x="4880530" y="1293034"/>
                </a:lnTo>
                <a:lnTo>
                  <a:pt x="4908200" y="1259500"/>
                </a:lnTo>
                <a:lnTo>
                  <a:pt x="4929094" y="1221015"/>
                </a:lnTo>
                <a:lnTo>
                  <a:pt x="4942299" y="1178491"/>
                </a:lnTo>
                <a:lnTo>
                  <a:pt x="4946904" y="1132839"/>
                </a:lnTo>
                <a:lnTo>
                  <a:pt x="4946904" y="226567"/>
                </a:lnTo>
                <a:lnTo>
                  <a:pt x="4942299" y="180916"/>
                </a:lnTo>
                <a:lnTo>
                  <a:pt x="4929094" y="138392"/>
                </a:lnTo>
                <a:lnTo>
                  <a:pt x="4908200" y="99907"/>
                </a:lnTo>
                <a:lnTo>
                  <a:pt x="4880530" y="66373"/>
                </a:lnTo>
                <a:lnTo>
                  <a:pt x="4846996" y="38703"/>
                </a:lnTo>
                <a:lnTo>
                  <a:pt x="4808511" y="17809"/>
                </a:lnTo>
                <a:lnTo>
                  <a:pt x="4765987" y="4604"/>
                </a:lnTo>
                <a:lnTo>
                  <a:pt x="47203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0" y="226567"/>
                </a:moveTo>
                <a:lnTo>
                  <a:pt x="4604" y="180916"/>
                </a:lnTo>
                <a:lnTo>
                  <a:pt x="17809" y="138392"/>
                </a:lnTo>
                <a:lnTo>
                  <a:pt x="38703" y="99907"/>
                </a:lnTo>
                <a:lnTo>
                  <a:pt x="66373" y="66373"/>
                </a:lnTo>
                <a:lnTo>
                  <a:pt x="99907" y="38703"/>
                </a:lnTo>
                <a:lnTo>
                  <a:pt x="138392" y="17809"/>
                </a:lnTo>
                <a:lnTo>
                  <a:pt x="180916" y="4604"/>
                </a:lnTo>
                <a:lnTo>
                  <a:pt x="226567" y="0"/>
                </a:lnTo>
                <a:lnTo>
                  <a:pt x="4720335" y="0"/>
                </a:lnTo>
                <a:lnTo>
                  <a:pt x="4765987" y="4604"/>
                </a:lnTo>
                <a:lnTo>
                  <a:pt x="4808511" y="17809"/>
                </a:lnTo>
                <a:lnTo>
                  <a:pt x="4846996" y="38703"/>
                </a:lnTo>
                <a:lnTo>
                  <a:pt x="4880530" y="66373"/>
                </a:lnTo>
                <a:lnTo>
                  <a:pt x="4908200" y="99907"/>
                </a:lnTo>
                <a:lnTo>
                  <a:pt x="4929094" y="138392"/>
                </a:lnTo>
                <a:lnTo>
                  <a:pt x="4942299" y="180916"/>
                </a:lnTo>
                <a:lnTo>
                  <a:pt x="4946904" y="226567"/>
                </a:lnTo>
                <a:lnTo>
                  <a:pt x="4946904" y="1132839"/>
                </a:lnTo>
                <a:lnTo>
                  <a:pt x="4942299" y="1178491"/>
                </a:lnTo>
                <a:lnTo>
                  <a:pt x="4929094" y="1221015"/>
                </a:lnTo>
                <a:lnTo>
                  <a:pt x="4908200" y="1259500"/>
                </a:lnTo>
                <a:lnTo>
                  <a:pt x="4880530" y="1293034"/>
                </a:lnTo>
                <a:lnTo>
                  <a:pt x="4846996" y="1320704"/>
                </a:lnTo>
                <a:lnTo>
                  <a:pt x="4808511" y="1341598"/>
                </a:lnTo>
                <a:lnTo>
                  <a:pt x="4765987" y="1354803"/>
                </a:lnTo>
                <a:lnTo>
                  <a:pt x="4720335" y="1359407"/>
                </a:lnTo>
                <a:lnTo>
                  <a:pt x="226567" y="1359407"/>
                </a:lnTo>
                <a:lnTo>
                  <a:pt x="180916" y="1354803"/>
                </a:lnTo>
                <a:lnTo>
                  <a:pt x="138392" y="1341598"/>
                </a:lnTo>
                <a:lnTo>
                  <a:pt x="99907" y="1320704"/>
                </a:lnTo>
                <a:lnTo>
                  <a:pt x="66373" y="1293034"/>
                </a:lnTo>
                <a:lnTo>
                  <a:pt x="38703" y="1259500"/>
                </a:lnTo>
                <a:lnTo>
                  <a:pt x="17809" y="1221015"/>
                </a:lnTo>
                <a:lnTo>
                  <a:pt x="4604" y="1178491"/>
                </a:lnTo>
                <a:lnTo>
                  <a:pt x="0" y="1132839"/>
                </a:lnTo>
                <a:lnTo>
                  <a:pt x="0" y="226567"/>
                </a:lnTo>
                <a:close/>
              </a:path>
            </a:pathLst>
          </a:custGeom>
          <a:ln w="12192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3881" y="202514"/>
            <a:ext cx="2904236" cy="51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2748" y="2067509"/>
            <a:ext cx="8503920" cy="4641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3308" y="393649"/>
            <a:ext cx="7165340" cy="1185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268855" marR="5080" indent="-2256155">
              <a:lnSpc>
                <a:spcPts val="4320"/>
              </a:lnSpc>
              <a:spcBef>
                <a:spcPts val="655"/>
              </a:spcBef>
            </a:pPr>
            <a:r>
              <a:rPr sz="4000" dirty="0">
                <a:solidFill>
                  <a:srgbClr val="C00000"/>
                </a:solidFill>
              </a:rPr>
              <a:t>Data</a:t>
            </a:r>
            <a:r>
              <a:rPr sz="4000" spc="-6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Structures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and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Algorithms</a:t>
            </a:r>
            <a:r>
              <a:rPr sz="4000" spc="-4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-</a:t>
            </a:r>
            <a:r>
              <a:rPr sz="4000" spc="-50" dirty="0">
                <a:solidFill>
                  <a:srgbClr val="C00000"/>
                </a:solidFill>
              </a:rPr>
              <a:t>3 </a:t>
            </a:r>
            <a:r>
              <a:rPr sz="4000" spc="-10" dirty="0">
                <a:solidFill>
                  <a:srgbClr val="C00000"/>
                </a:solidFill>
              </a:rPr>
              <a:t>(25CS2103E)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ctr">
              <a:lnSpc>
                <a:spcPts val="3030"/>
              </a:lnSpc>
              <a:spcBef>
                <a:spcPts val="484"/>
              </a:spcBef>
            </a:pPr>
            <a:r>
              <a:rPr dirty="0"/>
              <a:t>RouteOpt:</a:t>
            </a:r>
            <a:r>
              <a:rPr spc="-10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Data-</a:t>
            </a:r>
            <a:r>
              <a:rPr dirty="0"/>
              <a:t>Cleaning</a:t>
            </a:r>
            <a:r>
              <a:rPr spc="-12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Approximation</a:t>
            </a:r>
            <a:r>
              <a:rPr spc="-60" dirty="0"/>
              <a:t> </a:t>
            </a:r>
            <a:r>
              <a:rPr dirty="0"/>
              <a:t>Engine</a:t>
            </a:r>
            <a:r>
              <a:rPr spc="-95" dirty="0"/>
              <a:t> </a:t>
            </a:r>
            <a:r>
              <a:rPr spc="-25" dirty="0"/>
              <a:t>for </a:t>
            </a:r>
            <a:r>
              <a:rPr dirty="0"/>
              <a:t>Capacitated</a:t>
            </a:r>
            <a:r>
              <a:rPr spc="-55" dirty="0"/>
              <a:t> </a:t>
            </a:r>
            <a:r>
              <a:rPr spc="-10" dirty="0"/>
              <a:t>Multi-</a:t>
            </a:r>
            <a:r>
              <a:rPr spc="-20" dirty="0"/>
              <a:t>Vehicle</a:t>
            </a:r>
            <a:r>
              <a:rPr spc="-95" dirty="0"/>
              <a:t> </a:t>
            </a:r>
            <a:r>
              <a:rPr dirty="0"/>
              <a:t>Route</a:t>
            </a:r>
            <a:r>
              <a:rPr spc="-80" dirty="0"/>
              <a:t> </a:t>
            </a:r>
            <a:r>
              <a:rPr spc="-10" dirty="0"/>
              <a:t>Optimization</a:t>
            </a:r>
            <a:r>
              <a:rPr spc="-10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Time </a:t>
            </a:r>
            <a:r>
              <a:rPr spc="-10" dirty="0"/>
              <a:t>Windows</a:t>
            </a:r>
          </a:p>
          <a:p>
            <a:pPr marL="224790" algn="ctr">
              <a:lnSpc>
                <a:spcPct val="100000"/>
              </a:lnSpc>
              <a:spcBef>
                <a:spcPts val="1750"/>
              </a:spcBef>
            </a:pPr>
            <a:r>
              <a:rPr sz="2400" b="0" spc="-45" dirty="0">
                <a:solidFill>
                  <a:srgbClr val="006FC0"/>
                </a:solidFill>
                <a:latin typeface="Calibri"/>
                <a:cs typeface="Calibri"/>
              </a:rPr>
              <a:t>Team</a:t>
            </a:r>
            <a:r>
              <a:rPr sz="2400" b="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Members</a:t>
            </a:r>
            <a:endParaRPr sz="2400" dirty="0">
              <a:latin typeface="Calibri"/>
              <a:cs typeface="Calibri"/>
            </a:endParaRPr>
          </a:p>
          <a:p>
            <a:pPr marL="224154" algn="ctr">
              <a:lnSpc>
                <a:spcPct val="100000"/>
              </a:lnSpc>
              <a:spcBef>
                <a:spcPts val="70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Sai</a:t>
            </a:r>
            <a:r>
              <a:rPr sz="2400" b="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Rohit</a:t>
            </a:r>
            <a:r>
              <a:rPr sz="2400" b="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(252009091)</a:t>
            </a:r>
            <a:endParaRPr sz="2400" dirty="0">
              <a:latin typeface="Calibri"/>
              <a:cs typeface="Calibri"/>
            </a:endParaRPr>
          </a:p>
          <a:p>
            <a:pPr marL="222885" algn="ctr">
              <a:lnSpc>
                <a:spcPct val="100000"/>
              </a:lnSpc>
              <a:spcBef>
                <a:spcPts val="720"/>
              </a:spcBef>
            </a:pP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Surendra</a:t>
            </a:r>
            <a:r>
              <a:rPr sz="2400" b="0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(2520090142)</a:t>
            </a:r>
            <a:endParaRPr sz="2400" dirty="0">
              <a:latin typeface="Calibri"/>
              <a:cs typeface="Calibri"/>
            </a:endParaRPr>
          </a:p>
          <a:p>
            <a:pPr marL="220979" algn="ctr">
              <a:lnSpc>
                <a:spcPct val="100000"/>
              </a:lnSpc>
              <a:spcBef>
                <a:spcPts val="72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Akash</a:t>
            </a:r>
            <a:r>
              <a:rPr sz="2400" b="0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(2520090127)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60"/>
              </a:spcBef>
            </a:pPr>
            <a:endParaRPr sz="2400" dirty="0">
              <a:latin typeface="Calibri"/>
              <a:cs typeface="Calibri"/>
            </a:endParaRPr>
          </a:p>
          <a:p>
            <a:pPr marL="396240" algn="ctr">
              <a:lnSpc>
                <a:spcPct val="100000"/>
              </a:lnSpc>
            </a:pP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Under</a:t>
            </a:r>
            <a:r>
              <a:rPr sz="1800" b="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Esteemed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Guidance</a:t>
            </a:r>
            <a:r>
              <a:rPr sz="1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endParaRPr sz="1800" dirty="0">
              <a:latin typeface="Times New Roman"/>
              <a:cs typeface="Times New Roman"/>
            </a:endParaRPr>
          </a:p>
          <a:p>
            <a:pPr marL="224790" algn="ctr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  <a:r>
              <a:rPr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Dyuti</a:t>
            </a:r>
            <a:r>
              <a:rPr sz="1800" spc="-10" dirty="0">
                <a:solidFill>
                  <a:srgbClr val="000000"/>
                </a:solidFill>
                <a:latin typeface="Times New Roman"/>
                <a:cs typeface="Times New Roman"/>
              </a:rPr>
              <a:t> Banerjee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5" name="object 5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34380" y="230200"/>
            <a:ext cx="15265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838200"/>
            <a:ext cx="11506200" cy="52322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/ 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Method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/ Key Code Snippets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/ Output Screenshots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83148" y="230200"/>
            <a:ext cx="14268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Abstract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9887585" cy="472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40640" indent="-227329" algn="just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Capacitated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Vehicle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(CVRPTW),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NP-hard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solve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exactly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fleets.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world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than 	</a:t>
            </a:r>
            <a:r>
              <a:rPr sz="2800" dirty="0">
                <a:latin typeface="Times New Roman"/>
                <a:cs typeface="Times New Roman"/>
              </a:rPr>
              <a:t>exact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solvers.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introduces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that: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Ingests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raw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Cleans,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standardizes,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geocodes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addresses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Deduplicates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repeated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stops</a:t>
            </a:r>
            <a:endParaRPr sz="2800" dirty="0">
              <a:latin typeface="Times New Roman"/>
              <a:cs typeface="Times New Roman"/>
            </a:endParaRPr>
          </a:p>
          <a:p>
            <a:pPr marL="240029" marR="63119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Clusters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capacity 	constraints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35677" y="202514"/>
            <a:ext cx="21228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9731375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Vehicle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generalization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Traveling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Salesman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combinatorial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logistics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Practical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limits.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delivery,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field-service,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transportation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 </a:t>
            </a:r>
            <a:r>
              <a:rPr sz="2400" spc="-10" dirty="0">
                <a:latin typeface="Times New Roman"/>
                <a:cs typeface="Times New Roman"/>
              </a:rPr>
              <a:t>(branch-and-</a:t>
            </a:r>
            <a:r>
              <a:rPr sz="2400" dirty="0">
                <a:latin typeface="Times New Roman"/>
                <a:cs typeface="Times New Roman"/>
              </a:rPr>
              <a:t>bound,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-10" dirty="0">
                <a:latin typeface="Times New Roman"/>
                <a:cs typeface="Times New Roman"/>
              </a:rPr>
              <a:t> programming)</a:t>
            </a:r>
            <a:endParaRPr sz="2400">
              <a:latin typeface="Times New Roman"/>
              <a:cs typeface="Times New Roman"/>
            </a:endParaRPr>
          </a:p>
          <a:p>
            <a:pPr marR="58483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guarantee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few dozen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stops.</a:t>
            </a:r>
            <a:endParaRPr sz="2400">
              <a:latin typeface="Times New Roman"/>
              <a:cs typeface="Times New Roman"/>
            </a:endParaRPr>
          </a:p>
          <a:p>
            <a:pPr marL="227329" marR="502284" indent="-227329" algn="ctr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2400" dirty="0">
                <a:latin typeface="Times New Roman"/>
                <a:cs typeface="Times New Roman"/>
              </a:rPr>
              <a:t>Industry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metaheuristics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near-</a:t>
            </a:r>
            <a:r>
              <a:rPr sz="2400" spc="-10" dirty="0">
                <a:latin typeface="Times New Roman"/>
                <a:cs typeface="Times New Roman"/>
              </a:rPr>
              <a:t>optimal</a:t>
            </a:r>
            <a:endParaRPr sz="2400">
              <a:latin typeface="Times New Roman"/>
              <a:cs typeface="Times New Roman"/>
            </a:endParaRPr>
          </a:p>
          <a:p>
            <a:pPr marR="7074534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quickly: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Constructive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nearest-</a:t>
            </a:r>
            <a:r>
              <a:rPr sz="2400" dirty="0">
                <a:latin typeface="Times New Roman"/>
                <a:cs typeface="Times New Roman"/>
              </a:rPr>
              <a:t>neighbor,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Clarke-</a:t>
            </a:r>
            <a:r>
              <a:rPr sz="2400" dirty="0">
                <a:latin typeface="Times New Roman"/>
                <a:cs typeface="Times New Roman"/>
              </a:rPr>
              <a:t>Wright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savings.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Local/metaheuristic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Or-</a:t>
            </a:r>
            <a:r>
              <a:rPr sz="2400" dirty="0">
                <a:latin typeface="Times New Roman"/>
                <a:cs typeface="Times New Roman"/>
              </a:rPr>
              <a:t>opt,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annealing,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Literature</a:t>
            </a:r>
            <a:r>
              <a:rPr spc="-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25779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45339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Vehicle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 	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Capacitated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(CVRP):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 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maximum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Times New Roman"/>
                <a:cs typeface="Times New Roman"/>
              </a:rPr>
              <a:t>Time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served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realistic.</a:t>
            </a:r>
            <a:endParaRPr sz="2400">
              <a:latin typeface="Times New Roman"/>
              <a:cs typeface="Times New Roman"/>
            </a:endParaRPr>
          </a:p>
          <a:p>
            <a:pPr marL="240029" marR="149225" indent="-227329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Heuristic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Greedy,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Genetic 	</a:t>
            </a:r>
            <a:r>
              <a:rPr sz="2400" dirty="0">
                <a:latin typeface="Times New Roman"/>
                <a:cs typeface="Times New Roman"/>
              </a:rPr>
              <a:t>Algorithms,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Colony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good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	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Gap: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while 	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validation,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windows,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10" dirty="0">
                <a:latin typeface="Times New Roman"/>
                <a:cs typeface="Times New Roman"/>
              </a:rPr>
              <a:t> system.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4807" y="216408"/>
            <a:ext cx="6736080" cy="668020"/>
            <a:chOff x="2654807" y="216408"/>
            <a:chExt cx="6736080" cy="6680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05" dirty="0"/>
              <a:t> </a:t>
            </a:r>
            <a:r>
              <a:rPr spc="-10" dirty="0"/>
              <a:t>Statement</a:t>
            </a:r>
            <a:r>
              <a:rPr spc="-8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328275" cy="478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452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duplicate,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inconsistent,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dirty="0">
                <a:latin typeface="Times New Roman"/>
                <a:cs typeface="Times New Roman"/>
              </a:rPr>
              <a:t>invalid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satisfied.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arrive within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given 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period.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computationally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performing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optimization.</a:t>
            </a:r>
            <a:endParaRPr sz="2400">
              <a:latin typeface="Times New Roman"/>
              <a:cs typeface="Times New Roman"/>
            </a:endParaRPr>
          </a:p>
          <a:p>
            <a:pPr marL="240029" marR="37655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 	</a:t>
            </a: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 	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time-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462213"/>
          </a:xfrm>
        </p:spPr>
        <p:txBody>
          <a:bodyPr/>
          <a:lstStyle/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Ingestion and Pre-processing Layer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Clustering and Allocation Layer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Core Optimization Engine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Evaluation and Reporting Layer</a:t>
            </a:r>
          </a:p>
          <a:p>
            <a:endParaRPr lang="en-IN" sz="32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Proposed Methodology /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0804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431983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Raw Data Ingestion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Data-Cleaning and Geocoding Module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Clustering and Vehicle Assignment (Capacity Constraints)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Construction Heuristics (Nearest-Neighbour / Savings Algorithm)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Local-Search Optimization (2-opt / Or-opt with Time Windows)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Output and Reporting (Metrics, Distances, Utilization)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System Design / Workflow</a:t>
            </a:r>
          </a:p>
        </p:txBody>
      </p:sp>
    </p:spTree>
    <p:extLst>
      <p:ext uri="{BB962C8B-B14F-4D97-AF65-F5344CB8AC3E}">
        <p14:creationId xmlns:p14="http://schemas.microsoft.com/office/powerpoint/2010/main" val="98870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Setup</a:t>
            </a:r>
          </a:p>
          <a:p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Python, React,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used: </a:t>
            </a:r>
            <a:r>
              <a:rPr lang="sv-SE" dirty="0"/>
              <a:t>Java, Python, FastAPI, React, Docker.</a:t>
            </a: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folder structure: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realtime_route_optimizer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/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/ Dataset Preparation</a:t>
            </a:r>
          </a:p>
          <a:p>
            <a:pPr lvl="0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</a:t>
            </a:r>
            <a:r>
              <a:rPr lang="en-IN" dirty="0"/>
              <a:t>Solomon Benchmark, </a:t>
            </a:r>
            <a:r>
              <a:rPr lang="en-IN" dirty="0" err="1"/>
              <a:t>OpenStreetMap</a:t>
            </a:r>
            <a:r>
              <a:rPr lang="en-IN" dirty="0"/>
              <a:t>, </a:t>
            </a:r>
            <a:r>
              <a:rPr lang="en-IN" dirty="0" err="1"/>
              <a:t>Kaggle</a:t>
            </a:r>
            <a:r>
              <a:rPr lang="en-IN" dirty="0"/>
              <a:t> datasets.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format: </a:t>
            </a:r>
            <a:r>
              <a:rPr lang="en-US" dirty="0"/>
              <a:t>CSV, JSON, and spatial matrices.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  <a:r>
              <a:rPr lang="en-US" dirty="0"/>
              <a:t>Cleaning, geocoding, and matrix generation.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lvl="0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35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399"/>
            <a:ext cx="11811000" cy="66479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modules: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clustering, routing, and analytics.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Ingesting, validating, geocoding, matrix construction.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algorithm/model: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Clustering, Clarke-Wright, and 2-Opt solvers.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routes, metrics, and alerts.</a:t>
            </a:r>
          </a:p>
          <a:p>
            <a:endParaRPr 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steps:</a:t>
            </a:r>
          </a:p>
          <a:p>
            <a:pPr marL="514350" lvl="0" indent="-514350">
              <a:buAutoNum type="arabicParenR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Distance Matrix Calculation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Clustering &amp; Fleet Partitioning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Route Construction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Optimization &amp; Local Search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 &amp; Constraint Validation</a:t>
            </a: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23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877985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capacity, depot):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CleanAndGeocode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ClusterByCapacity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(stops, capacity)[cite: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 IN clusters DO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BuildSavingsRoute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(cluster, depot)[cite: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Optimize2OptWithTimeWindows(route)[cite: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fleet_routes.Append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(route)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- </a:t>
            </a:r>
            <a:r>
              <a:rPr lang="en-US" sz="3200" b="1" dirty="0">
                <a:solidFill>
                  <a:schemeClr val="lt1"/>
                </a:solidFill>
                <a:latin typeface="+mj-lt"/>
                <a:ea typeface="+mn-ea"/>
                <a:cs typeface="+mn-cs"/>
              </a:rPr>
              <a:t>Pseudocode</a:t>
            </a:r>
            <a:r>
              <a:rPr lang="en-US" sz="1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564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Vehicle Constraints &amp; Route Planning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Capacity: Limits on load/volume assigned per vehicle.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 Specific delivery/arrival time windows required for each stop.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Data: Raw stop locations, messy addresses (requiring standardization and geocoding), and duplicate entries.</a:t>
            </a:r>
          </a:p>
          <a:p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– Important Parameters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315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1"/>
            <a:ext cx="11734800" cy="55015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Optimization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Heuristics: Nearest-Neighbor Algorithm and Savings Algorithm.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Local-Search Improvement: 2-opt and Or-opt heuristics. </a:t>
            </a:r>
          </a:p>
          <a:p>
            <a:endParaRPr lang="en-US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 (Outputs)</a:t>
            </a:r>
          </a:p>
          <a:p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Distance: Overall travel distance across generated routes.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Travel Time: Total calculated travel time per route.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Utilization: Capacity efficiency per deployed vehicle.</a:t>
            </a:r>
            <a:r>
              <a:rPr lang="en-US" sz="2750" dirty="0"/>
              <a:t> 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Violations: Count/severity of missed or late delivery windows.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Time vs. Solution Quality: Performance benchmark compared against exact solvers.</a:t>
            </a: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44000" cy="51501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Main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481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Input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AutoShape 6" descr="blob:https://web.whatsapp.com/fa15ec56-9ec4-42fd-a704-bdfd8f3a045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96690-0206-1B5F-2A05-A818144F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4" y="1238154"/>
            <a:ext cx="10893425" cy="54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7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399"/>
            <a:ext cx="5981700" cy="137160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Processing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86A83-39D9-F4FE-3E0A-E606A9D2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12039600" cy="51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099" y="152399"/>
            <a:ext cx="5792429" cy="141092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Output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E8EBE-453E-04AB-BCE8-46958703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76399"/>
            <a:ext cx="11963400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63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Test Cases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1295400"/>
            <a:ext cx="1066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 Limits: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that a vehicle with a 50kg limit takes two packages (45kg total) and leaves the third for another route.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routes sequence stops only if delivery time windows are satisfied, pruning invalid paths.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Cases: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pathfinder handles empty orders, single-depot stops, or unmapped locations without crashing or looping.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&amp; Dispatch: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that fetching orders returns full manifest data, assigning drivers updates statuses to On Route, and duplicate order IDs are rejected. </a:t>
            </a:r>
          </a:p>
          <a:p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Telemetry: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real-time GPS streaming for ETA recalculations and auto-reconnection during network drops. </a:t>
            </a:r>
          </a:p>
          <a:p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&amp; 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dispatcher login, instant demo access for the Hyderabad Hub, and dynamic updating of fleet metrics (e.g., 18 drivers / 14 on route).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0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Engine (CVRP):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structured JSON listing optimized route sequences (e.g., 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[“Depot”, “ORD – 0021”, “ORD – 0025”]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capacity loads (45kg/50kg) and travel times (22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plus unassigned orders due to constraints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Orders API: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Outputs active manifests containing Order ID, Customer, Destination Area, Driver, Status, and ETA (e.g.,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 – 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Telemetry: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Broadcasts live JSON updates with driver GPS coordinates, speed, and updated ETAs to refresh the UI in real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( 127.0.0.1):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metric cards ( 142 total deliveries,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/ 14 On Route drives, 96.4% efficiency)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an active order queue with color-coded status badges and tracking actions.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343688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Engine Output (Terminal Log):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Running the optimizer outputs execution steps: initial distance matrix loading,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/CVRP route generation for active drivers (e.g.,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 assigned 45kg load, 14.2 km distance, 22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ETA), and warning logs for unassigned orders violating time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windows.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API JSON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GET /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/orders):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active order manifests containing fields for Order ID, Customer, Area, Assigned Driver, Status, and ETA (e.g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ORD-0021,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JSON Stream: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broadcasts live updates including driver ID ( DRV – 104),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coordinates ( 17.4401, 78.3489), speed (34.2 km/h), and dynamically recalculated ETAs.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Actual Output</a:t>
            </a:r>
          </a:p>
        </p:txBody>
      </p:sp>
    </p:spTree>
    <p:extLst>
      <p:ext uri="{BB962C8B-B14F-4D97-AF65-F5344CB8AC3E}">
        <p14:creationId xmlns:p14="http://schemas.microsoft.com/office/powerpoint/2010/main" val="1393036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Optimality: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compared to exact integer programming baselines on CVRP benchmarks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Compliance: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98.6% compliance rate for scheduled delivery windows while auto-flagging delayed orders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Utilization: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Reaches a 96.4% fleet efficiency rate by optimizing vehicle payload capacities.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Streaming: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broadcasts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Accuracy Performance</a:t>
            </a:r>
          </a:p>
        </p:txBody>
      </p:sp>
    </p:spTree>
    <p:extLst>
      <p:ext uri="{BB962C8B-B14F-4D97-AF65-F5344CB8AC3E}">
        <p14:creationId xmlns:p14="http://schemas.microsoft.com/office/powerpoint/2010/main" val="2880099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Output Screenshots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F4937-033D-8250-A280-5A8250349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95400"/>
            <a:ext cx="11963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96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Sample Inputs and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3D46F-42DE-AEAB-4B30-B8B725DF71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5334000" cy="4128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63858-4596-4AAC-264A-7398919F4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362200"/>
            <a:ext cx="6477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against exact ILP baselines, 98.6% time-window compliance, and 96.4% fleet capacity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route optimization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Network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streams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 at up to 1,200 concurrent connections.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98262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dispatch.py):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Solves 2-opt CVRP heuristics, checks time windows, and computes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shortest paths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&amp; Orders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order REST endpoints, driver status updates,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dependencies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live driver GPS coordinates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 static/ 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dashboard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index.html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driven by JS event handlers and instant demo access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script.js ).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Implementation Modules</a:t>
            </a:r>
          </a:p>
        </p:txBody>
      </p:sp>
    </p:spTree>
    <p:extLst>
      <p:ext uri="{BB962C8B-B14F-4D97-AF65-F5344CB8AC3E}">
        <p14:creationId xmlns:p14="http://schemas.microsoft.com/office/powerpoint/2010/main" val="1378521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73975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distance matrices between depot and drop-offs using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Queues orders by delivery time windows and depot distance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Assignment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Greedily assigns high-priority stops while checking vehicle capacity limits (50kg max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2-Opt Optimization: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Swaps route stops to eliminate crossing paths and minimize travel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Pruning: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payload and time-window bounds, re-queueing or delaying invalid stops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final sequences to the API and broadcasts real-time GPS/ETA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Algorithm / Method Used </a:t>
            </a:r>
          </a:p>
        </p:txBody>
      </p:sp>
    </p:spTree>
    <p:extLst>
      <p:ext uri="{BB962C8B-B14F-4D97-AF65-F5344CB8AC3E}">
        <p14:creationId xmlns:p14="http://schemas.microsoft.com/office/powerpoint/2010/main" val="416269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60153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cvrp_solver.py — 2-Opt &amp; Capacity Route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CVRPSolver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__(self, c=50):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run(self, d,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l, dist, cur = ["Depot"], 0, 0, </a:t>
            </a:r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 in sorted(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key=lambda x: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('priority', 3),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window_end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9999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10) &lt;=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']), (o['coordinates']['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'])) *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cur, l = o['coordinates'],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28600"/>
            <a:ext cx="5638800" cy="8382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Source Code / Key Code Snippets</a:t>
            </a:r>
          </a:p>
        </p:txBody>
      </p:sp>
    </p:spTree>
    <p:extLst>
      <p:ext uri="{BB962C8B-B14F-4D97-AF65-F5344CB8AC3E}">
        <p14:creationId xmlns:p14="http://schemas.microsoft.com/office/powerpoint/2010/main" val="866420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115062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{"route": r + ["Depot"], "load": l, "km": round(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api/routers/orders.py &amp; websocket/telemetry.py —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orders(): return [{"id": "ORD-0021", "status": "In Transit", "eta": "14m"}]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/telemetry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ws.accept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ws.send_json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({"driver": "DRV-104", "eta": "14m"}) </a:t>
            </a:r>
          </a:p>
        </p:txBody>
      </p:sp>
    </p:spTree>
    <p:extLst>
      <p:ext uri="{BB962C8B-B14F-4D97-AF65-F5344CB8AC3E}">
        <p14:creationId xmlns:p14="http://schemas.microsoft.com/office/powerpoint/2010/main" val="4016254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negative weight handling, time-window pruning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: 52 &gt; 10 : 45), and strict vehicle load limits (50kg max).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end-to-end data flow across order creation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POST /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 matrices,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broadcasts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 route heuristics (150 orders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verifies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stability at 1,200 connections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robust handling of empty order queues, zero active drivers, or unmapped destination coordinates.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837399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Experimental Results / Output Screenshots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147E3-6BB5-F197-0B9E-6CC8951C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039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02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0(log N) sorting: O(K .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N^2) 2-opt search.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Space: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graph storage; O(N) queue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generation and dense 2-opt swaps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 500 stops).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Geofencing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static lookups yield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execution.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948657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924425"/>
          </a:xfrm>
        </p:spPr>
        <p:txBody>
          <a:bodyPr/>
          <a:lstStyle/>
          <a:p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 NP-hard complexity of CVRPTW by replacing exact solvers with a fast heuristic pipeline. Standardizing data, clustering stops, and applying construction heuristics with 2-opt and Or-opt local searches delivers near-optimal routes quickly. This offers operators a practical balance between computation speed, total distance, vehicle utilization, and time-window constraints. 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860642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155555" cy="5149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6985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solution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multi-	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optimization.</a:t>
            </a:r>
            <a:endParaRPr sz="2800">
              <a:latin typeface="Times New Roman"/>
              <a:cs typeface="Times New Roman"/>
            </a:endParaRPr>
          </a:p>
          <a:p>
            <a:pPr marL="240029" marR="39433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constraints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time 	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feasible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>
              <a:latin typeface="Times New Roman"/>
              <a:cs typeface="Times New Roman"/>
            </a:endParaRPr>
          </a:p>
          <a:p>
            <a:pPr marL="240029" marR="24257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heuristic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10" dirty="0">
                <a:latin typeface="Times New Roman"/>
                <a:cs typeface="Times New Roman"/>
              </a:rPr>
              <a:t> routes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240029" marR="62547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services, 	</a:t>
            </a:r>
            <a:r>
              <a:rPr sz="2800" dirty="0">
                <a:latin typeface="Times New Roman"/>
                <a:cs typeface="Times New Roman"/>
              </a:rPr>
              <a:t>transportation,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fleet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>
              <a:latin typeface="Times New Roman"/>
              <a:cs typeface="Times New Roman"/>
            </a:endParaRPr>
          </a:p>
          <a:p>
            <a:pPr marL="240029" marR="113728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Overall,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practical,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scalable,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 	</a:t>
            </a:r>
            <a:r>
              <a:rPr sz="2800" dirty="0">
                <a:latin typeface="Times New Roman"/>
                <a:cs typeface="Times New Roman"/>
              </a:rPr>
              <a:t>approach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29580" y="163194"/>
            <a:ext cx="222504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Future</a:t>
            </a:r>
            <a:r>
              <a:rPr spc="-114" dirty="0"/>
              <a:t> </a:t>
            </a:r>
            <a:r>
              <a:rPr spc="-10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062845" cy="4296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live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GPS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dynamically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>
              <a:latin typeface="Times New Roman"/>
              <a:cs typeface="Times New Roman"/>
            </a:endParaRPr>
          </a:p>
          <a:p>
            <a:pPr marL="240029" marR="8293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predict 	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demand.</a:t>
            </a:r>
            <a:endParaRPr sz="2800">
              <a:latin typeface="Times New Roman"/>
              <a:cs typeface="Times New Roman"/>
            </a:endParaRPr>
          </a:p>
          <a:p>
            <a:pPr marL="240029" marR="66103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metaheuristic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hybrid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quality.</a:t>
            </a:r>
            <a:endParaRPr sz="2800">
              <a:latin typeface="Times New Roman"/>
              <a:cs typeface="Times New Roman"/>
            </a:endParaRPr>
          </a:p>
          <a:p>
            <a:pPr marL="240029" marR="1905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Real-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Cleaning:</a:t>
            </a:r>
            <a:r>
              <a:rPr sz="2800" spc="-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Automatically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correct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incorrect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missing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operation.</a:t>
            </a:r>
            <a:endParaRPr sz="2800">
              <a:latin typeface="Times New Roman"/>
              <a:cs typeface="Times New Roman"/>
            </a:endParaRPr>
          </a:p>
          <a:p>
            <a:pPr marL="240029" marR="800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Maps,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OpenStreetMap,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similar 	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visualization.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924425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 for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 Clarke and Wright (1964) for the savings heuristic,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Croes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(1958) for 2-opt edge swapping, and Or (1976) for segment relocate moves. Additionally, Solomon (1987) and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Toth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Vigo (2014) provide fundamental frameworks for solving time-window constraints and capacitated vehicle routing problems.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54869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3018485"/>
            <a:ext cx="17780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6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1991</Words>
  <Application>Microsoft Office PowerPoint</Application>
  <PresentationFormat>Widescreen</PresentationFormat>
  <Paragraphs>231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Arial MT</vt:lpstr>
      <vt:lpstr>Calibri</vt:lpstr>
      <vt:lpstr>Tahoma</vt:lpstr>
      <vt:lpstr>Times New Roman</vt:lpstr>
      <vt:lpstr>Office Theme</vt:lpstr>
      <vt:lpstr>Data Structures and Algorithms -3 (25CS2103E)</vt:lpstr>
      <vt:lpstr>PowerPoint Presentation</vt:lpstr>
      <vt:lpstr>Abstract</vt:lpstr>
      <vt:lpstr>Introduction</vt:lpstr>
      <vt:lpstr>Literature Survey</vt:lpstr>
      <vt:lpstr>Problem Statement and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-3 (25CS2103E)</dc:title>
  <dc:creator>TheoremLogic NumericLogorithm</dc:creator>
  <cp:lastModifiedBy>Sairohit</cp:lastModifiedBy>
  <cp:revision>37</cp:revision>
  <dcterms:created xsi:type="dcterms:W3CDTF">2026-09-12T04:35:17Z</dcterms:created>
  <dcterms:modified xsi:type="dcterms:W3CDTF">2026-10-03T06:27:45Z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2026-09-12T00:00:00Z</vt:filetime>
  </property>
  <property fmtid="{D5CDD505-2E9C-101B-9397-08002B2CF9AE}" pid="6" name="Producer">
    <vt:lpwstr>www.ilovepdf.com</vt:lpwstr>
  </property>
</Properties>
</file>