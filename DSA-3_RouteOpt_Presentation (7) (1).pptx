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7" r:id="rId9"/>
    <p:sldId id="266" r:id="rId10"/>
    <p:sldId id="260" r:id="rId11"/>
    <p:sldId id="262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47" d="100"/>
          <a:sy n="47" d="100"/>
        </p:scale>
        <p:origin x="591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1027775"/>
            <a:ext cx="9144000" cy="2316702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Data Structures and Algorithms -3 (25CS2103E)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/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2800" b="1" dirty="0">
                <a:solidFill>
                  <a:srgbClr val="C00000"/>
                </a:solidFill>
                <a:latin typeface="+mn-lt"/>
              </a:rPr>
              <a:t>RouteOpt: A Data-Cleaning and Approximation Engine for Capacitated Multi-Vehicle Route Optimization with Time Windows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70160" y="3513524"/>
            <a:ext cx="4551284" cy="1396014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Team Members</a:t>
            </a:r>
          </a:p>
          <a:p>
            <a:r>
              <a:rPr lang="en-US" dirty="0">
                <a:solidFill>
                  <a:srgbClr val="0070C0"/>
                </a:solidFill>
              </a:rPr>
              <a:t>Sai Rohit (252009091)</a:t>
            </a:r>
          </a:p>
          <a:p>
            <a:r>
              <a:rPr lang="en-US" dirty="0">
                <a:solidFill>
                  <a:srgbClr val="0070C0"/>
                </a:solidFill>
              </a:rPr>
              <a:t>Surendra (2520090142)</a:t>
            </a:r>
          </a:p>
          <a:p>
            <a:r>
              <a:rPr lang="en-US" dirty="0">
                <a:solidFill>
                  <a:srgbClr val="0070C0"/>
                </a:solidFill>
              </a:rPr>
              <a:t>Akash (2520090127)</a:t>
            </a: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endParaRPr lang="en-US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Dr. Dyuti Banerjee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Introduction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Literature survey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Problem Statement and Objectives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Hardware and Software requirements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Results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Conclusion </a:t>
            </a: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Future Scope 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200" name="Body Content"/>
          <p:cNvSpPr txBox="1"/>
          <p:nvPr/>
        </p:nvSpPr>
        <p:spPr>
          <a:xfrm>
            <a:off x="914400" y="1005840"/>
            <a:ext cx="10363200" cy="4852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addressed is the Capacitated Vehicle Routing Problem with Time Windows (CVRPTW), which is NP-hard and difficult to solve exactly for large fleets.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logistics require fast approximation methods rather than exact solvers.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introduces RouteOpt, a routing engine that: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Ingests raw stop and address data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Cleans, standardizes, and geocodes messy addresses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Deduplicates repeated stops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Clusters and assigns stops to vehicles while respecting capacity constraints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200" name="Body Content"/>
          <p:cNvSpPr txBox="1"/>
          <p:nvPr/>
        </p:nvSpPr>
        <p:spPr>
          <a:xfrm>
            <a:off x="914400" y="1005840"/>
            <a:ext cx="10363200" cy="4852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core topic is the Vehicle Routing Problem (VRP) - a generalization of the Traveling Salesman Problem to multiple vehicles.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VRP is central to combinatorial optimization and logistics planning.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variants include: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CVRP - adds vehicle capacity limits.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CVRPTW - adds delivery time windows for customers.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variants are widely used in delivery, field-service, and transportation operations.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Exact optimization methods (branch-and-bound, integer linear programming) guarantee optimal solutions but do not scale beyond a few dozen stops.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systems rely on heuristics and metaheuristics to get near-optimal solutions quickly: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Constructive heuristics: nearest-neighbor, Clarke-Wright savings.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Local/metaheuristic search: 2-opt, Or-opt, simulated annealing, tabu search.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sp>
        <p:nvSpPr>
          <p:cNvPr id="200" name="Body Content"/>
          <p:cNvSpPr txBox="1"/>
          <p:nvPr/>
        </p:nvSpPr>
        <p:spPr>
          <a:xfrm>
            <a:off x="914400" y="1005840"/>
            <a:ext cx="10363200" cy="4852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 Routing Problem (VRP): Research mainly focuses on finding efficient routes for vehicles while serving multiple customers.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Capacitated VRP (CVRP): Existing methods consider vehicle capacity constraints to ensure that vehicle load does not exceed its maximum capacity.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Window Constraints: VRPTW approaches ensure that customers are served within their specified time windows, making route planning more realistic.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Heuristic &amp; Approximation Methods: Techniques such as Greedy, 2-opt, Genetic Algorithms, and Ant Colony Optimization are used to obtain good solutions with less computation time.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Gap: Many existing systems focus mainly on route optimization, while RouteOpt integrates data cleaning, validation, capacity constraints, time windows, and approximate multi-vehicle routing into a unified system.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</a:p>
        </p:txBody>
      </p:sp>
      <p:sp>
        <p:nvSpPr>
          <p:cNvPr id="200" name="Body Content"/>
          <p:cNvSpPr txBox="1"/>
          <p:nvPr/>
        </p:nvSpPr>
        <p:spPr>
          <a:xfrm>
            <a:off x="914400" y="1005840"/>
            <a:ext cx="10363200" cy="4852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delivery datasets often contain missing, duplicate, inconsistent, or invalid data, which can affect route planning.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 routes for multiple vehicles becomes complex when vehicle capacity constraints must be satisfied.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may have specific time windows, requiring vehicles to arrive within a given time period.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exact optimization methods can become computationally expensive for large numbers of customers and vehicles.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system that cleans and validates input data before performing route optimization.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RouteOpt aims to provide an efficient approximation engine that generates feasible and optimized multi-vehicle routes while considering vehicle capacity and customer time-window constraints.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</a:p>
        </p:txBody>
      </p:sp>
      <p:sp>
        <p:nvSpPr>
          <p:cNvPr id="300" name="Step 1"/>
          <p:cNvSpPr/>
          <p:nvPr/>
        </p:nvSpPr>
        <p:spPr>
          <a:xfrm>
            <a:off x="914400" y="2350000"/>
            <a:ext cx="1500000" cy="1300000"/>
          </a:xfrm>
          <a:prstGeom prst="roundRect">
            <a:avLst/>
          </a:prstGeom>
          <a:solidFill>
            <a:srgbClr val="C00000"/>
          </a:solidFill>
          <a:ln>
            <a:solidFill>
              <a:srgbClr val="7A0000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 Stop &amp; Address Data</a:t>
            </a:r>
          </a:p>
        </p:txBody>
      </p:sp>
      <p:sp>
        <p:nvSpPr>
          <p:cNvPr id="301" name="Arrow 1"/>
          <p:cNvSpPr/>
          <p:nvPr/>
        </p:nvSpPr>
        <p:spPr>
          <a:xfrm>
            <a:off x="2414400" y="2850000"/>
            <a:ext cx="272640" cy="300000"/>
          </a:xfrm>
          <a:prstGeom prst="rightArrow">
            <a:avLst/>
          </a:prstGeom>
          <a:solidFill>
            <a:srgbClr val="7A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2" name="Step 2"/>
          <p:cNvSpPr/>
          <p:nvPr/>
        </p:nvSpPr>
        <p:spPr>
          <a:xfrm>
            <a:off x="2687040" y="2350000"/>
            <a:ext cx="1500000" cy="1300000"/>
          </a:xfrm>
          <a:prstGeom prst="roundRect">
            <a:avLst/>
          </a:prstGeom>
          <a:solidFill>
            <a:srgbClr val="C00000"/>
          </a:solidFill>
          <a:ln>
            <a:solidFill>
              <a:srgbClr val="7A0000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Standardization</a:t>
            </a:r>
          </a:p>
        </p:txBody>
      </p:sp>
      <p:sp>
        <p:nvSpPr>
          <p:cNvPr id="303" name="Arrow 2"/>
          <p:cNvSpPr/>
          <p:nvPr/>
        </p:nvSpPr>
        <p:spPr>
          <a:xfrm>
            <a:off x="4187040" y="2850000"/>
            <a:ext cx="272640" cy="300000"/>
          </a:xfrm>
          <a:prstGeom prst="rightArrow">
            <a:avLst/>
          </a:prstGeom>
          <a:solidFill>
            <a:srgbClr val="7A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4" name="Step 3"/>
          <p:cNvSpPr/>
          <p:nvPr/>
        </p:nvSpPr>
        <p:spPr>
          <a:xfrm>
            <a:off x="4459680" y="2350000"/>
            <a:ext cx="1500000" cy="1300000"/>
          </a:xfrm>
          <a:prstGeom prst="roundRect">
            <a:avLst/>
          </a:prstGeom>
          <a:solidFill>
            <a:srgbClr val="C00000"/>
          </a:solidFill>
          <a:ln>
            <a:solidFill>
              <a:srgbClr val="7A0000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Deduplication</a:t>
            </a:r>
          </a:p>
        </p:txBody>
      </p:sp>
      <p:sp>
        <p:nvSpPr>
          <p:cNvPr id="305" name="Arrow 3"/>
          <p:cNvSpPr/>
          <p:nvPr/>
        </p:nvSpPr>
        <p:spPr>
          <a:xfrm>
            <a:off x="5959680" y="2850000"/>
            <a:ext cx="272640" cy="300000"/>
          </a:xfrm>
          <a:prstGeom prst="rightArrow">
            <a:avLst/>
          </a:prstGeom>
          <a:solidFill>
            <a:srgbClr val="7A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6" name="Step 4"/>
          <p:cNvSpPr/>
          <p:nvPr/>
        </p:nvSpPr>
        <p:spPr>
          <a:xfrm>
            <a:off x="6232320" y="2350000"/>
            <a:ext cx="1500000" cy="1300000"/>
          </a:xfrm>
          <a:prstGeom prst="roundRect">
            <a:avLst/>
          </a:prstGeom>
          <a:solidFill>
            <a:srgbClr val="C00000"/>
          </a:solidFill>
          <a:ln>
            <a:solidFill>
              <a:srgbClr val="7A0000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Clustering &amp; Vehicle Assignment</a:t>
            </a:r>
          </a:p>
        </p:txBody>
      </p:sp>
      <p:sp>
        <p:nvSpPr>
          <p:cNvPr id="307" name="Arrow 4"/>
          <p:cNvSpPr/>
          <p:nvPr/>
        </p:nvSpPr>
        <p:spPr>
          <a:xfrm>
            <a:off x="7732320" y="2850000"/>
            <a:ext cx="272640" cy="300000"/>
          </a:xfrm>
          <a:prstGeom prst="rightArrow">
            <a:avLst/>
          </a:prstGeom>
          <a:solidFill>
            <a:srgbClr val="7A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8" name="Step 5"/>
          <p:cNvSpPr/>
          <p:nvPr/>
        </p:nvSpPr>
        <p:spPr>
          <a:xfrm>
            <a:off x="8004960" y="2350000"/>
            <a:ext cx="1500000" cy="1300000"/>
          </a:xfrm>
          <a:prstGeom prst="roundRect">
            <a:avLst/>
          </a:prstGeom>
          <a:solidFill>
            <a:srgbClr val="C00000"/>
          </a:solidFill>
          <a:ln>
            <a:solidFill>
              <a:srgbClr val="7A0000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 Optimization (CVRPTW)</a:t>
            </a:r>
          </a:p>
        </p:txBody>
      </p:sp>
      <p:sp>
        <p:nvSpPr>
          <p:cNvPr id="309" name="Arrow 5"/>
          <p:cNvSpPr/>
          <p:nvPr/>
        </p:nvSpPr>
        <p:spPr>
          <a:xfrm>
            <a:off x="9504960" y="2850000"/>
            <a:ext cx="272640" cy="300000"/>
          </a:xfrm>
          <a:prstGeom prst="rightArrow">
            <a:avLst/>
          </a:prstGeom>
          <a:solidFill>
            <a:srgbClr val="7A000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0" name="Step 6"/>
          <p:cNvSpPr/>
          <p:nvPr/>
        </p:nvSpPr>
        <p:spPr>
          <a:xfrm>
            <a:off x="9777600" y="2350000"/>
            <a:ext cx="1500000" cy="1300000"/>
          </a:xfrm>
          <a:prstGeom prst="roundRect">
            <a:avLst/>
          </a:prstGeom>
          <a:solidFill>
            <a:srgbClr val="C00000"/>
          </a:solidFill>
          <a:ln>
            <a:solidFill>
              <a:srgbClr val="7A0000"/>
            </a:solidFill>
          </a:ln>
        </p:spPr>
        <p:txBody>
          <a:bodyPr wrap="square" lIns="45720" tIns="27432" rIns="45720" bIns="27432" anchor="ctr">
            <a:norm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Feasible Multi-Vehicle Routes</a:t>
            </a:r>
          </a:p>
        </p:txBody>
      </p:sp>
      <p:sp>
        <p:nvSpPr>
          <p:cNvPr id="311" name="Flow Caption"/>
          <p:cNvSpPr txBox="1"/>
          <p:nvPr/>
        </p:nvSpPr>
        <p:spPr>
          <a:xfrm>
            <a:off x="914400" y="4150000"/>
            <a:ext cx="103632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pipeline: raw delivery data is cleaned, deduplicated, clustered, and optimized into feasible, capacity- and time-window-compliant vehicle routes.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200" name="Body Content"/>
          <p:cNvSpPr txBox="1"/>
          <p:nvPr/>
        </p:nvSpPr>
        <p:spPr>
          <a:xfrm>
            <a:off x="914400" y="1005840"/>
            <a:ext cx="10363200" cy="4852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Input Data: The system successfully identifies and handles missing, duplicate, inconsistent, and invalid routing data.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Feasible Routes: RouteOpt generates routes that satisfy vehicle capacity constraints and customer time windows.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Multi-Vehicle Optimization: Customers are efficiently distributed among multiple vehicles based on demand and route constraints.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Travel Cost: The approximation approach helps reduce unnecessary distance and travel time compared with unoptimized routing.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Processing: Approximation and heuristic techniques provide solutions faster than computationally expensive exact methods for larger datasets.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200" name="Body Content"/>
          <p:cNvSpPr txBox="1"/>
          <p:nvPr/>
        </p:nvSpPr>
        <p:spPr>
          <a:xfrm>
            <a:off x="914400" y="1005840"/>
            <a:ext cx="10363200" cy="4852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Windows 10/11, macOS, or Linux.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Python 3.x.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Environment: Visual Studio Code, PyCharm, or Jupyter Notebook.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Libraries/Frameworks: Pandas, NumPy, and suitable optimization libraries such as OR-Tools.</a:t>
            </a: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 Intel Core i5 / Apple M1 or equivalent and above.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 Minimum 8 GB.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 Minimum 10 GB of free space.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Display: 1366 x 768 resolution or higher.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200" name="Body Content"/>
          <p:cNvSpPr txBox="1"/>
          <p:nvPr/>
        </p:nvSpPr>
        <p:spPr>
          <a:xfrm>
            <a:off x="914400" y="1005840"/>
            <a:ext cx="10363200" cy="4852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RouteOpt provides an integrated solution for data cleaning and multi-vehicle route optimization.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handles vehicle capacity constraints and customer time windows to generate feasible routes.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and validation improve the accuracy and reliability of the optimization process.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Approximation and heuristic techniques help generate efficient routes with reduced computation time.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can be useful in logistics, delivery services, transportation, and fleet management.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RouteOpt provides a practical, scalable, and efficient approach to real-world route optimization problems.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</p:txBody>
      </p:sp>
      <p:sp>
        <p:nvSpPr>
          <p:cNvPr id="200" name="Body Content"/>
          <p:cNvSpPr txBox="1"/>
          <p:nvPr/>
        </p:nvSpPr>
        <p:spPr>
          <a:xfrm>
            <a:off x="914400" y="1005840"/>
            <a:ext cx="10363200" cy="48521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Route Optimization: Integrate live traffic and GPS data to dynamically update routes.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Integration: Use machine learning to predict delivery times, traffic conditions, and customer demand.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Optimization: Implement advanced metaheuristic and hybrid algorithms to improve route quality.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Cleaning: Automatically detect and correct incorrect or missing routing data during operation.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 Integration: Integrate Google Maps, OpenStreetMap, or similar services for real-world route visualization.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900</Words>
  <Application>Microsoft Office PowerPoint</Application>
  <PresentationFormat>Widescreen</PresentationFormat>
  <Paragraphs>88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Gautami</vt:lpstr>
      <vt:lpstr>Times New Roman</vt:lpstr>
      <vt:lpstr>Office Theme</vt:lpstr>
      <vt:lpstr>       Data Structures and Algorithms -3 (25CS2103E)  RouteOpt: A Data-Cleaning and Approximation Engine for Capacitated Multi-Vehicle Route Optimization with Time Windows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Sairohit</cp:lastModifiedBy>
  <cp:revision>21</cp:revision>
  <dcterms:created xsi:type="dcterms:W3CDTF">2024-08-29T05:25:00Z</dcterms:created>
  <dcterms:modified xsi:type="dcterms:W3CDTF">2026-08-27T10:21:03Z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